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endorsed in direction at the AI champions review on 28 July 2026. Goal today: sponsor backing for pilot expansion and visibility ahead of the September funding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COB is the pilot product, not the owner. Convergence with Treasury Services is mandated by the champions and happens before wider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calibration point matters: scores and gates that are never validated against production outcomes become compliance theater. The tracker closes that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September connection: the tracking data and pre/post dashboard are direct evidence of the initiative's value. The asks are low-cost: backing, a sync, and visibility.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1F20"/>
        </a:solidFill>
      </p:bgPr>
    </p:bg>
    <p:spTree>
      <p:nvGrpSpPr>
        <p:cNvPr id="1" name=""/>
        <p:cNvGrpSpPr/>
        <p:nvPr/>
      </p:nvGrpSpPr>
      <p:grpSpPr>
        <a:xfrm>
          <a:off x="0" y="0"/>
          <a:ext cx="0" cy="0"/>
          <a:chOff x="0" y="0"/>
          <a:chExt cx="0" cy="0"/>
        </a:xfrm>
      </p:grpSpPr>
      <p:sp>
        <p:nvSpPr>
          <p:cNvPr id="2" name="Shape 0"/>
          <p:cNvSpPr/>
          <p:nvPr/>
        </p:nvSpPr>
        <p:spPr>
          <a:xfrm>
            <a:off x="8595360" y="-1463040"/>
            <a:ext cx="4937760" cy="4937760"/>
          </a:xfrm>
          <a:prstGeom prst="ellipse">
            <a:avLst/>
          </a:prstGeom>
          <a:solidFill>
            <a:srgbClr val="FF5F00">
              <a:alpha val="18000"/>
            </a:srgbClr>
          </a:solidFill>
          <a:ln/>
        </p:spPr>
      </p:sp>
      <p:sp>
        <p:nvSpPr>
          <p:cNvPr id="3" name="Shape 1"/>
          <p:cNvSpPr/>
          <p:nvPr/>
        </p:nvSpPr>
        <p:spPr>
          <a:xfrm>
            <a:off x="10149840" y="4023360"/>
            <a:ext cx="3840480" cy="3840480"/>
          </a:xfrm>
          <a:prstGeom prst="ellipse">
            <a:avLst/>
          </a:prstGeom>
          <a:solidFill>
            <a:srgbClr val="EB001B">
              <a:alpha val="14000"/>
            </a:srgbClr>
          </a:solidFill>
          <a:ln/>
        </p:spPr>
      </p:sp>
      <p:sp>
        <p:nvSpPr>
          <p:cNvPr id="4" name="Text 2"/>
          <p:cNvSpPr/>
          <p:nvPr/>
        </p:nvSpPr>
        <p:spPr>
          <a:xfrm>
            <a:off x="822960" y="2148840"/>
            <a:ext cx="9601200" cy="914400"/>
          </a:xfrm>
          <a:prstGeom prst="rect">
            <a:avLst/>
          </a:prstGeom>
          <a:noFill/>
          <a:ln/>
        </p:spPr>
        <p:txBody>
          <a:bodyPr wrap="square" lIns="0" tIns="0" rIns="0" bIns="0" rtlCol="0" anchor="ctr"/>
          <a:lstStyle/>
          <a:p>
            <a:pPr indent="0" marL="0">
              <a:buNone/>
            </a:pPr>
            <a:r>
              <a:rPr lang="en-US" sz="4800" b="1" dirty="0">
                <a:solidFill>
                  <a:srgbClr val="FFFFFF"/>
                </a:solidFill>
                <a:latin typeface="Arial" pitchFamily="34" charset="0"/>
                <a:ea typeface="Arial" pitchFamily="34" charset="-122"/>
                <a:cs typeface="Arial" pitchFamily="34" charset="-120"/>
              </a:rPr>
              <a:t>AI Adoption Plan</a:t>
            </a:r>
            <a:endParaRPr lang="en-US" sz="4800" dirty="0"/>
          </a:p>
        </p:txBody>
      </p:sp>
      <p:sp>
        <p:nvSpPr>
          <p:cNvPr id="5" name="Text 3"/>
          <p:cNvSpPr/>
          <p:nvPr/>
        </p:nvSpPr>
        <p:spPr>
          <a:xfrm>
            <a:off x="822960" y="3063240"/>
            <a:ext cx="9601200" cy="640080"/>
          </a:xfrm>
          <a:prstGeom prst="rect">
            <a:avLst/>
          </a:prstGeom>
          <a:noFill/>
          <a:ln/>
        </p:spPr>
        <p:txBody>
          <a:bodyPr wrap="square" lIns="0" tIns="0" rIns="0" bIns="0" rtlCol="0" anchor="ctr"/>
          <a:lstStyle/>
          <a:p>
            <a:pPr indent="0" marL="0">
              <a:buNone/>
            </a:pPr>
            <a:r>
              <a:rPr lang="en-US" sz="2800" dirty="0">
                <a:solidFill>
                  <a:srgbClr val="FF5F00"/>
                </a:solidFill>
                <a:latin typeface="Arial" pitchFamily="34" charset="0"/>
                <a:ea typeface="Arial" pitchFamily="34" charset="-122"/>
                <a:cs typeface="Arial" pitchFamily="34" charset="-120"/>
              </a:rPr>
              <a:t>Network Solutions</a:t>
            </a:r>
            <a:endParaRPr lang="en-US" sz="2800" dirty="0"/>
          </a:p>
        </p:txBody>
      </p:sp>
      <p:sp>
        <p:nvSpPr>
          <p:cNvPr id="6" name="Text 4"/>
          <p:cNvSpPr/>
          <p:nvPr/>
        </p:nvSpPr>
        <p:spPr>
          <a:xfrm>
            <a:off x="822960" y="4846320"/>
            <a:ext cx="8686800" cy="1097280"/>
          </a:xfrm>
          <a:prstGeom prst="rect">
            <a:avLst/>
          </a:prstGeom>
          <a:noFill/>
          <a:ln/>
        </p:spPr>
        <p:txBody>
          <a:bodyPr wrap="square" lIns="0" tIns="0" rIns="0" bIns="0" rtlCol="0" anchor="ctr"/>
          <a:lstStyle/>
          <a:p>
            <a:pPr indent="0" marL="0">
              <a:lnSpc>
                <a:spcPct val="140000"/>
              </a:lnSpc>
              <a:buNone/>
            </a:pPr>
            <a:r>
              <a:rPr lang="en-US" sz="1400" dirty="0">
                <a:solidFill>
                  <a:srgbClr val="CFCFCF"/>
                </a:solidFill>
                <a:latin typeface="Arial" pitchFamily="34" charset="0"/>
                <a:ea typeface="Arial" pitchFamily="34" charset="-122"/>
                <a:cs typeface="Arial" pitchFamily="34" charset="-120"/>
              </a:rPr>
              <a:t>Prepared by Neha, Manager of Software Engineering</a:t>
            </a:r>
            <a:endParaRPr lang="en-US" sz="1400" dirty="0"/>
          </a:p>
          <a:p>
            <a:pPr indent="0" marL="0">
              <a:lnSpc>
                <a:spcPct val="140000"/>
              </a:lnSpc>
              <a:buNone/>
            </a:pPr>
            <a:r>
              <a:rPr lang="en-US" sz="1400" dirty="0">
                <a:solidFill>
                  <a:srgbClr val="CFCFCF"/>
                </a:solidFill>
                <a:latin typeface="Arial" pitchFamily="34" charset="0"/>
                <a:ea typeface="Arial" pitchFamily="34" charset="-122"/>
                <a:cs typeface="Arial" pitchFamily="34" charset="-120"/>
              </a:rPr>
              <a:t>Sponsor: Shrikant Belan    Stakeholders: Sanjay, Sanjeev</a:t>
            </a:r>
            <a:endParaRPr lang="en-US" sz="1400" dirty="0"/>
          </a:p>
          <a:p>
            <a:pPr indent="0" marL="0">
              <a:lnSpc>
                <a:spcPct val="140000"/>
              </a:lnSpc>
              <a:buNone/>
            </a:pPr>
            <a:r>
              <a:rPr lang="en-US" sz="1400" dirty="0">
                <a:solidFill>
                  <a:srgbClr val="CFCFCF"/>
                </a:solidFill>
                <a:latin typeface="Arial" pitchFamily="34" charset="0"/>
                <a:ea typeface="Arial" pitchFamily="34" charset="-122"/>
                <a:cs typeface="Arial" pitchFamily="34" charset="-120"/>
              </a:rPr>
              <a:t>July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640080"/>
          </a:xfrm>
          <a:prstGeom prst="rect">
            <a:avLst/>
          </a:prstGeom>
          <a:noFill/>
          <a:ln/>
        </p:spPr>
        <p:txBody>
          <a:bodyPr wrap="square" lIns="0" tIns="0" rIns="0" bIns="0" rtlCol="0" anchor="ctr"/>
          <a:lstStyle/>
          <a:p>
            <a:pPr indent="0" marL="0">
              <a:buNone/>
            </a:pPr>
            <a:r>
              <a:rPr lang="en-US" sz="3000" b="1" dirty="0">
                <a:solidFill>
                  <a:srgbClr val="231F20"/>
                </a:solidFill>
                <a:latin typeface="Arial" pitchFamily="34" charset="0"/>
                <a:ea typeface="Arial" pitchFamily="34" charset="-122"/>
                <a:cs typeface="Arial" pitchFamily="34" charset="-120"/>
              </a:rPr>
              <a:t>Purpose</a:t>
            </a:r>
            <a:endParaRPr lang="en-US" sz="3000" dirty="0"/>
          </a:p>
        </p:txBody>
      </p:sp>
      <p:sp>
        <p:nvSpPr>
          <p:cNvPr id="3" name="Text 1"/>
          <p:cNvSpPr/>
          <p:nvPr/>
        </p:nvSpPr>
        <p:spPr>
          <a:xfrm>
            <a:off x="548640" y="1143000"/>
            <a:ext cx="5212080" cy="365760"/>
          </a:xfrm>
          <a:prstGeom prst="rect">
            <a:avLst/>
          </a:prstGeom>
          <a:noFill/>
          <a:ln/>
        </p:spPr>
        <p:txBody>
          <a:bodyPr wrap="square" lIns="0" tIns="0" rIns="0" bIns="0" rtlCol="0" anchor="ctr"/>
          <a:lstStyle/>
          <a:p>
            <a:pPr indent="0" marL="0">
              <a:buNone/>
            </a:pPr>
            <a:r>
              <a:rPr lang="en-US" sz="1800" b="1" dirty="0">
                <a:solidFill>
                  <a:srgbClr val="EB001B"/>
                </a:solidFill>
                <a:latin typeface="Arial" pitchFamily="34" charset="0"/>
                <a:ea typeface="Arial" pitchFamily="34" charset="-122"/>
                <a:cs typeface="Arial" pitchFamily="34" charset="-120"/>
              </a:rPr>
              <a:t>The problem</a:t>
            </a:r>
            <a:endParaRPr lang="en-US" sz="1800" dirty="0"/>
          </a:p>
        </p:txBody>
      </p:sp>
      <p:sp>
        <p:nvSpPr>
          <p:cNvPr id="4" name="Text 2"/>
          <p:cNvSpPr/>
          <p:nvPr/>
        </p:nvSpPr>
        <p:spPr>
          <a:xfrm>
            <a:off x="548640" y="1600200"/>
            <a:ext cx="5212080" cy="2377440"/>
          </a:xfrm>
          <a:prstGeom prst="rect">
            <a:avLst/>
          </a:prstGeom>
          <a:noFill/>
          <a:ln/>
        </p:spPr>
        <p:txBody>
          <a:bodyPr wrap="square" lIns="0" tIns="0" rIns="0" bIns="0" rtlCol="0" anchor="ctr"/>
          <a:lstStyle/>
          <a:p>
            <a:pPr marL="342900" indent="-342900">
              <a:spcAft>
                <a:spcPts val="1000"/>
              </a:spcAft>
              <a:buSzPct val="100000"/>
              <a:buChar char="•"/>
            </a:pPr>
            <a:r>
              <a:rPr lang="en-US" sz="1500" dirty="0">
                <a:solidFill>
                  <a:srgbClr val="231F20"/>
                </a:solidFill>
                <a:latin typeface="Arial" pitchFamily="34" charset="0"/>
                <a:ea typeface="Arial" pitchFamily="34" charset="-122"/>
                <a:cs typeface="Arial" pitchFamily="34" charset="-120"/>
              </a:rPr>
              <a:t>No consistent approach to AI-assisted development across Network Solutions</a:t>
            </a:r>
            <a:endParaRPr lang="en-US" sz="1500" dirty="0"/>
          </a:p>
          <a:p>
            <a:pPr marL="342900" indent="-342900">
              <a:spcAft>
                <a:spcPts val="1000"/>
              </a:spcAft>
              <a:buSzPct val="100000"/>
              <a:buChar char="•"/>
            </a:pPr>
            <a:r>
              <a:rPr lang="en-US" sz="1500" dirty="0">
                <a:solidFill>
                  <a:srgbClr val="231F20"/>
                </a:solidFill>
                <a:latin typeface="Arial" pitchFamily="34" charset="0"/>
                <a:ea typeface="Arial" pitchFamily="34" charset="-122"/>
                <a:cs typeface="Arial" pitchFamily="34" charset="-120"/>
              </a:rPr>
              <a:t>Adoption is ad hoc and usage is untracked</a:t>
            </a:r>
            <a:endParaRPr lang="en-US" sz="1500" dirty="0"/>
          </a:p>
          <a:p>
            <a:pPr marL="342900" indent="-342900">
              <a:spcAft>
                <a:spcPts val="1000"/>
              </a:spcAft>
              <a:buSzPct val="100000"/>
              <a:buChar char="•"/>
            </a:pPr>
            <a:r>
              <a:rPr lang="en-US" sz="1500" dirty="0">
                <a:solidFill>
                  <a:srgbClr val="231F20"/>
                </a:solidFill>
                <a:latin typeface="Arial" pitchFamily="34" charset="0"/>
                <a:ea typeface="Arial" pitchFamily="34" charset="-122"/>
                <a:cs typeface="Arial" pitchFamily="34" charset="-120"/>
              </a:rPr>
              <a:t>No shared infrastructure that individual teams can build on</a:t>
            </a:r>
            <a:endParaRPr lang="en-US" sz="1500" dirty="0"/>
          </a:p>
        </p:txBody>
      </p:sp>
      <p:sp>
        <p:nvSpPr>
          <p:cNvPr id="5" name="Shape 3"/>
          <p:cNvSpPr/>
          <p:nvPr/>
        </p:nvSpPr>
        <p:spPr>
          <a:xfrm>
            <a:off x="6309360" y="1143000"/>
            <a:ext cx="5303520" cy="2834640"/>
          </a:xfrm>
          <a:prstGeom prst="roundRect">
            <a:avLst>
              <a:gd name="adj" fmla="val 2581"/>
            </a:avLst>
          </a:prstGeom>
          <a:solidFill>
            <a:srgbClr val="F5F5F5"/>
          </a:solidFill>
          <a:ln/>
        </p:spPr>
      </p:sp>
      <p:sp>
        <p:nvSpPr>
          <p:cNvPr id="6" name="Text 4"/>
          <p:cNvSpPr/>
          <p:nvPr/>
        </p:nvSpPr>
        <p:spPr>
          <a:xfrm>
            <a:off x="6583680" y="1371600"/>
            <a:ext cx="4754880" cy="365760"/>
          </a:xfrm>
          <a:prstGeom prst="rect">
            <a:avLst/>
          </a:prstGeom>
          <a:noFill/>
          <a:ln/>
        </p:spPr>
        <p:txBody>
          <a:bodyPr wrap="square" lIns="0" tIns="0" rIns="0" bIns="0" rtlCol="0" anchor="ctr"/>
          <a:lstStyle/>
          <a:p>
            <a:pPr indent="0" marL="0">
              <a:buNone/>
            </a:pPr>
            <a:r>
              <a:rPr lang="en-US" sz="1800" b="1" dirty="0">
                <a:solidFill>
                  <a:srgbClr val="FF5F00"/>
                </a:solidFill>
                <a:latin typeface="Arial" pitchFamily="34" charset="0"/>
                <a:ea typeface="Arial" pitchFamily="34" charset="-122"/>
                <a:cs typeface="Arial" pitchFamily="34" charset="-120"/>
              </a:rPr>
              <a:t>The proposal</a:t>
            </a:r>
            <a:endParaRPr lang="en-US" sz="1800" dirty="0"/>
          </a:p>
        </p:txBody>
      </p:sp>
      <p:sp>
        <p:nvSpPr>
          <p:cNvPr id="7" name="Text 5"/>
          <p:cNvSpPr/>
          <p:nvPr/>
        </p:nvSpPr>
        <p:spPr>
          <a:xfrm>
            <a:off x="6583680" y="1783080"/>
            <a:ext cx="4754880" cy="2011680"/>
          </a:xfrm>
          <a:prstGeom prst="rect">
            <a:avLst/>
          </a:prstGeom>
          <a:noFill/>
          <a:ln/>
        </p:spPr>
        <p:txBody>
          <a:bodyPr wrap="square" lIns="0" tIns="0" rIns="0" bIns="0" rtlCol="0" anchor="ctr"/>
          <a:lstStyle/>
          <a:p>
            <a:pPr indent="0" marL="0">
              <a:lnSpc>
                <a:spcPct val="120000"/>
              </a:lnSpc>
              <a:buNone/>
            </a:pPr>
            <a:r>
              <a:rPr lang="en-US" sz="1500" dirty="0">
                <a:solidFill>
                  <a:srgbClr val="231F20"/>
                </a:solidFill>
                <a:latin typeface="Arial" pitchFamily="34" charset="0"/>
                <a:ea typeface="Arial" pitchFamily="34" charset="-122"/>
                <a:cs typeface="Arial" pitchFamily="34" charset="-120"/>
              </a:rPr>
              <a:t>A phased rollout that starts with tooling the team has built and proven on Clear on Behalf (COB), one of our products, and extends it across Network Solutions repos. Governance is built in from the start, not retrofitted later.</a:t>
            </a:r>
            <a:endParaRPr lang="en-US" sz="1500" dirty="0"/>
          </a:p>
        </p:txBody>
      </p:sp>
      <p:sp>
        <p:nvSpPr>
          <p:cNvPr id="8" name="Text 6"/>
          <p:cNvSpPr/>
          <p:nvPr/>
        </p:nvSpPr>
        <p:spPr>
          <a:xfrm>
            <a:off x="548640" y="4389120"/>
            <a:ext cx="11064240" cy="365760"/>
          </a:xfrm>
          <a:prstGeom prst="rect">
            <a:avLst/>
          </a:prstGeom>
          <a:noFill/>
          <a:ln/>
        </p:spPr>
        <p:txBody>
          <a:bodyPr wrap="square" lIns="0" tIns="0" rIns="0" bIns="0" rtlCol="0" anchor="ctr"/>
          <a:lstStyle/>
          <a:p>
            <a:pPr indent="0" marL="0">
              <a:buNone/>
            </a:pPr>
            <a:r>
              <a:rPr lang="en-US" sz="1800" b="1" dirty="0">
                <a:solidFill>
                  <a:srgbClr val="231F20"/>
                </a:solidFill>
                <a:latin typeface="Arial" pitchFamily="34" charset="0"/>
                <a:ea typeface="Arial" pitchFamily="34" charset="-122"/>
                <a:cs typeface="Arial" pitchFamily="34" charset="-120"/>
              </a:rPr>
              <a:t>Alignment</a:t>
            </a:r>
            <a:endParaRPr lang="en-US" sz="1800" dirty="0"/>
          </a:p>
        </p:txBody>
      </p:sp>
      <p:sp>
        <p:nvSpPr>
          <p:cNvPr id="9" name="Text 7"/>
          <p:cNvSpPr/>
          <p:nvPr/>
        </p:nvSpPr>
        <p:spPr>
          <a:xfrm>
            <a:off x="548640" y="4800600"/>
            <a:ext cx="11064240" cy="1371600"/>
          </a:xfrm>
          <a:prstGeom prst="rect">
            <a:avLst/>
          </a:prstGeom>
          <a:noFill/>
          <a:ln/>
        </p:spPr>
        <p:txBody>
          <a:bodyPr wrap="square" lIns="0" tIns="0" rIns="0" bIns="0" rtlCol="0" anchor="ctr"/>
          <a:lstStyle/>
          <a:p>
            <a:pPr marL="342900" indent="-342900">
              <a:spcAft>
                <a:spcPts val="1000"/>
              </a:spcAft>
              <a:buSzPct val="100000"/>
              <a:buChar char="•"/>
            </a:pPr>
            <a:r>
              <a:rPr lang="en-US" sz="1500" dirty="0">
                <a:solidFill>
                  <a:srgbClr val="231F20"/>
                </a:solidFill>
                <a:latin typeface="Arial" pitchFamily="34" charset="0"/>
                <a:ea typeface="Arial" pitchFamily="34" charset="-122"/>
                <a:cs typeface="Arial" pitchFamily="34" charset="-120"/>
              </a:rPr>
              <a:t>Endorsed in direction at the AI champions review, 28 July 2026</a:t>
            </a:r>
            <a:endParaRPr lang="en-US" sz="1500" dirty="0"/>
          </a:p>
          <a:p>
            <a:pPr marL="342900" indent="-342900">
              <a:spcAft>
                <a:spcPts val="1000"/>
              </a:spcAft>
              <a:buSzPct val="100000"/>
              <a:buChar char="•"/>
            </a:pPr>
            <a:r>
              <a:rPr lang="en-US" sz="1500" dirty="0">
                <a:solidFill>
                  <a:srgbClr val="231F20"/>
                </a:solidFill>
                <a:latin typeface="Arial" pitchFamily="34" charset="0"/>
                <a:ea typeface="Arial" pitchFamily="34" charset="-122"/>
                <a:cs typeface="Arial" pitchFamily="34" charset="-120"/>
              </a:rPr>
              <a:t>Aligned to the AI-native SDLC governance model in Colin Wynd's draft paper (Treasury Services): Network Solutions becomes an early implementation of the org-level framework, not a parallel effort</a:t>
            </a:r>
            <a:endParaRPr lang="en-US" sz="1500" dirty="0"/>
          </a:p>
        </p:txBody>
      </p:sp>
      <p:sp>
        <p:nvSpPr>
          <p:cNvPr id="10" name="Text 8"/>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6E6E6E"/>
                </a:solidFill>
                <a:latin typeface="Arial" pitchFamily="34" charset="0"/>
                <a:ea typeface="Arial" pitchFamily="34" charset="-122"/>
                <a:cs typeface="Arial" pitchFamily="34" charset="-120"/>
              </a:rPr>
              <a:t>AI Adoption Plan  |  Network Solutions  |  July 2026</a:t>
            </a:r>
            <a:endParaRPr lang="en-US" sz="900" dirty="0"/>
          </a:p>
        </p:txBody>
      </p:sp>
      <p:sp>
        <p:nvSpPr>
          <p:cNvPr id="11" name="Text 9"/>
          <p:cNvSpPr/>
          <p:nvPr/>
        </p:nvSpPr>
        <p:spPr>
          <a:xfrm>
            <a:off x="11430000" y="6473952"/>
            <a:ext cx="365760" cy="274320"/>
          </a:xfrm>
          <a:prstGeom prst="rect">
            <a:avLst/>
          </a:prstGeom>
          <a:noFill/>
          <a:ln/>
        </p:spPr>
        <p:txBody>
          <a:bodyPr wrap="square" lIns="0" tIns="0" rIns="0" bIns="0" rtlCol="0" anchor="ctr"/>
          <a:lstStyle/>
          <a:p>
            <a:pPr algn="r" indent="0" marL="0">
              <a:buNone/>
            </a:pPr>
            <a:r>
              <a:rPr lang="en-US" sz="900" dirty="0">
                <a:solidFill>
                  <a:srgbClr val="6E6E6E"/>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640080"/>
          </a:xfrm>
          <a:prstGeom prst="rect">
            <a:avLst/>
          </a:prstGeom>
          <a:noFill/>
          <a:ln/>
        </p:spPr>
        <p:txBody>
          <a:bodyPr wrap="square" lIns="0" tIns="0" rIns="0" bIns="0" rtlCol="0" anchor="ctr"/>
          <a:lstStyle/>
          <a:p>
            <a:pPr indent="0" marL="0">
              <a:buNone/>
            </a:pPr>
            <a:r>
              <a:rPr lang="en-US" sz="3000" b="1" dirty="0">
                <a:solidFill>
                  <a:srgbClr val="231F20"/>
                </a:solidFill>
                <a:latin typeface="Arial" pitchFamily="34" charset="0"/>
                <a:ea typeface="Arial" pitchFamily="34" charset="-122"/>
                <a:cs typeface="Arial" pitchFamily="34" charset="-120"/>
              </a:rPr>
              <a:t>Current State</a:t>
            </a:r>
            <a:endParaRPr lang="en-US" sz="3000" dirty="0"/>
          </a:p>
        </p:txBody>
      </p:sp>
      <p:sp>
        <p:nvSpPr>
          <p:cNvPr id="3" name="Shape 1"/>
          <p:cNvSpPr/>
          <p:nvPr/>
        </p:nvSpPr>
        <p:spPr>
          <a:xfrm>
            <a:off x="548640" y="1143000"/>
            <a:ext cx="5486400" cy="2514600"/>
          </a:xfrm>
          <a:prstGeom prst="roundRect">
            <a:avLst>
              <a:gd name="adj" fmla="val 2909"/>
            </a:avLst>
          </a:prstGeom>
          <a:solidFill>
            <a:srgbClr val="F5F5F5"/>
          </a:solidFill>
          <a:ln/>
        </p:spPr>
      </p:sp>
      <p:sp>
        <p:nvSpPr>
          <p:cNvPr id="4" name="Text 2"/>
          <p:cNvSpPr/>
          <p:nvPr/>
        </p:nvSpPr>
        <p:spPr>
          <a:xfrm>
            <a:off x="777240" y="1307592"/>
            <a:ext cx="5029200" cy="365760"/>
          </a:xfrm>
          <a:prstGeom prst="rect">
            <a:avLst/>
          </a:prstGeom>
          <a:noFill/>
          <a:ln/>
        </p:spPr>
        <p:txBody>
          <a:bodyPr wrap="square" lIns="0" tIns="0" rIns="0" bIns="0" rtlCol="0" anchor="ctr"/>
          <a:lstStyle/>
          <a:p>
            <a:pPr indent="0" marL="0">
              <a:buNone/>
            </a:pPr>
            <a:r>
              <a:rPr lang="en-US" sz="1600" b="1" dirty="0">
                <a:solidFill>
                  <a:srgbClr val="FF5F00"/>
                </a:solidFill>
                <a:latin typeface="Arial" pitchFamily="34" charset="0"/>
                <a:ea typeface="Arial" pitchFamily="34" charset="-122"/>
                <a:cs typeface="Arial" pitchFamily="34" charset="-120"/>
              </a:rPr>
              <a:t>Built by the team, piloted on COB</a:t>
            </a:r>
            <a:endParaRPr lang="en-US" sz="1600" dirty="0"/>
          </a:p>
        </p:txBody>
      </p:sp>
      <p:sp>
        <p:nvSpPr>
          <p:cNvPr id="5" name="Text 3"/>
          <p:cNvSpPr/>
          <p:nvPr/>
        </p:nvSpPr>
        <p:spPr>
          <a:xfrm>
            <a:off x="777240" y="1709928"/>
            <a:ext cx="5029200" cy="178308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231F20"/>
                </a:solidFill>
                <a:latin typeface="Arial" pitchFamily="34" charset="0"/>
                <a:ea typeface="Arial" pitchFamily="34" charset="-122"/>
                <a:cs typeface="Arial" pitchFamily="34" charset="-120"/>
              </a:rPr>
              <a:t>Feature-delivery skill in Claude Code</a:t>
            </a:r>
            <a:endParaRPr lang="en-US" sz="1300" dirty="0"/>
          </a:p>
          <a:p>
            <a:pPr marL="342900" indent="-342900">
              <a:spcAft>
                <a:spcPts val="600"/>
              </a:spcAft>
              <a:buSzPct val="100000"/>
              <a:buChar char="•"/>
            </a:pPr>
            <a:r>
              <a:rPr lang="en-US" sz="1300" dirty="0">
                <a:solidFill>
                  <a:srgbClr val="231F20"/>
                </a:solidFill>
                <a:latin typeface="Arial" pitchFamily="34" charset="0"/>
                <a:ea typeface="Arial" pitchFamily="34" charset="-122"/>
                <a:cs typeface="Arial" pitchFamily="34" charset="-120"/>
              </a:rPr>
              <a:t>AI usage tracking system gating GitHub PR merges</a:t>
            </a:r>
            <a:endParaRPr lang="en-US" sz="1300" dirty="0"/>
          </a:p>
          <a:p>
            <a:pPr marL="342900" indent="-342900">
              <a:spcAft>
                <a:spcPts val="600"/>
              </a:spcAft>
              <a:buSzPct val="100000"/>
              <a:buChar char="•"/>
            </a:pPr>
            <a:r>
              <a:rPr lang="en-US" sz="1300" dirty="0">
                <a:solidFill>
                  <a:srgbClr val="231F20"/>
                </a:solidFill>
                <a:latin typeface="Arial" pitchFamily="34" charset="0"/>
                <a:ea typeface="Arial" pitchFamily="34" charset="-122"/>
                <a:cs typeface="Arial" pitchFamily="34" charset="-120"/>
              </a:rPr>
              <a:t>Claude Code PR review skill, packaged for marketplace distribution</a:t>
            </a:r>
            <a:endParaRPr lang="en-US" sz="1300" dirty="0"/>
          </a:p>
          <a:p>
            <a:pPr marL="342900" indent="-342900">
              <a:spcAft>
                <a:spcPts val="600"/>
              </a:spcAft>
              <a:buSzPct val="100000"/>
              <a:buChar char="•"/>
            </a:pPr>
            <a:r>
              <a:rPr lang="en-US" sz="1300" dirty="0">
                <a:solidFill>
                  <a:srgbClr val="231F20"/>
                </a:solidFill>
                <a:latin typeface="Arial" pitchFamily="34" charset="0"/>
                <a:ea typeface="Arial" pitchFamily="34" charset="-122"/>
                <a:cs typeface="Arial" pitchFamily="34" charset="-120"/>
              </a:rPr>
              <a:t>Dashboard in build: pre and post AIDLC metrics for a before/after view</a:t>
            </a:r>
            <a:endParaRPr lang="en-US" sz="1300" dirty="0"/>
          </a:p>
        </p:txBody>
      </p:sp>
      <p:sp>
        <p:nvSpPr>
          <p:cNvPr id="6" name="Shape 4"/>
          <p:cNvSpPr/>
          <p:nvPr/>
        </p:nvSpPr>
        <p:spPr>
          <a:xfrm>
            <a:off x="6263640" y="1143000"/>
            <a:ext cx="5394960" cy="2514600"/>
          </a:xfrm>
          <a:prstGeom prst="roundRect">
            <a:avLst>
              <a:gd name="adj" fmla="val 2909"/>
            </a:avLst>
          </a:prstGeom>
          <a:solidFill>
            <a:srgbClr val="F5F5F5"/>
          </a:solidFill>
          <a:ln/>
        </p:spPr>
      </p:sp>
      <p:sp>
        <p:nvSpPr>
          <p:cNvPr id="7" name="Text 5"/>
          <p:cNvSpPr/>
          <p:nvPr/>
        </p:nvSpPr>
        <p:spPr>
          <a:xfrm>
            <a:off x="6492240" y="1307592"/>
            <a:ext cx="4937760" cy="365760"/>
          </a:xfrm>
          <a:prstGeom prst="rect">
            <a:avLst/>
          </a:prstGeom>
          <a:noFill/>
          <a:ln/>
        </p:spPr>
        <p:txBody>
          <a:bodyPr wrap="square" lIns="0" tIns="0" rIns="0" bIns="0" rtlCol="0" anchor="ctr"/>
          <a:lstStyle/>
          <a:p>
            <a:pPr indent="0" marL="0">
              <a:buNone/>
            </a:pPr>
            <a:r>
              <a:rPr lang="en-US" sz="1600" b="1" dirty="0">
                <a:solidFill>
                  <a:srgbClr val="231F20"/>
                </a:solidFill>
                <a:latin typeface="Arial" pitchFamily="34" charset="0"/>
                <a:ea typeface="Arial" pitchFamily="34" charset="-122"/>
                <a:cs typeface="Arial" pitchFamily="34" charset="-120"/>
              </a:rPr>
              <a:t>AI champions review, 28 July 2026</a:t>
            </a:r>
            <a:endParaRPr lang="en-US" sz="1600" dirty="0"/>
          </a:p>
        </p:txBody>
      </p:sp>
      <p:sp>
        <p:nvSpPr>
          <p:cNvPr id="8" name="Text 6"/>
          <p:cNvSpPr/>
          <p:nvPr/>
        </p:nvSpPr>
        <p:spPr>
          <a:xfrm>
            <a:off x="6492240" y="1709928"/>
            <a:ext cx="4937760" cy="178308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231F20"/>
                </a:solidFill>
                <a:latin typeface="Arial" pitchFamily="34" charset="0"/>
                <a:ea typeface="Arial" pitchFamily="34" charset="-122"/>
                <a:cs typeface="Arial" pitchFamily="34" charset="-120"/>
              </a:rPr>
              <a:t>AIDLC pilot results: 2 of 3 defects delivered first-pass</a:t>
            </a:r>
            <a:endParaRPr lang="en-US" sz="1300" dirty="0"/>
          </a:p>
          <a:p>
            <a:pPr marL="342900" indent="-342900">
              <a:spcAft>
                <a:spcPts val="600"/>
              </a:spcAft>
              <a:buSzPct val="100000"/>
              <a:buChar char="•"/>
            </a:pPr>
            <a:r>
              <a:rPr lang="en-US" sz="1300" dirty="0">
                <a:solidFill>
                  <a:srgbClr val="231F20"/>
                </a:solidFill>
                <a:latin typeface="Arial" pitchFamily="34" charset="0"/>
                <a:ea typeface="Arial" pitchFamily="34" charset="-122"/>
                <a:cs typeface="Arial" pitchFamily="34" charset="-120"/>
              </a:rPr>
              <a:t>Controlled with/without comparison demonstrated the framework's value</a:t>
            </a:r>
            <a:endParaRPr lang="en-US" sz="1300" dirty="0"/>
          </a:p>
          <a:p>
            <a:pPr marL="342900" indent="-342900">
              <a:spcAft>
                <a:spcPts val="600"/>
              </a:spcAft>
              <a:buSzPct val="100000"/>
              <a:buChar char="•"/>
            </a:pPr>
            <a:r>
              <a:rPr lang="en-US" sz="1300" dirty="0">
                <a:solidFill>
                  <a:srgbClr val="231F20"/>
                </a:solidFill>
                <a:latin typeface="Arial" pitchFamily="34" charset="0"/>
                <a:ea typeface="Arial" pitchFamily="34" charset="-122"/>
                <a:cs typeface="Arial" pitchFamily="34" charset="-120"/>
              </a:rPr>
              <a:t>Mandate to converge with the Treasury Services POC (in production use)</a:t>
            </a:r>
            <a:endParaRPr lang="en-US" sz="1300" dirty="0"/>
          </a:p>
          <a:p>
            <a:pPr marL="342900" indent="-342900">
              <a:spcAft>
                <a:spcPts val="600"/>
              </a:spcAft>
              <a:buSzPct val="100000"/>
              <a:buChar char="•"/>
            </a:pPr>
            <a:r>
              <a:rPr lang="en-US" sz="1300" dirty="0">
                <a:solidFill>
                  <a:srgbClr val="231F20"/>
                </a:solidFill>
                <a:latin typeface="Arial" pitchFamily="34" charset="0"/>
                <a:ea typeface="Arial" pitchFamily="34" charset="-122"/>
                <a:cs typeface="Arial" pitchFamily="34" charset="-120"/>
              </a:rPr>
              <a:t>Distribution endorsed via the shared skills repo owned by Maveric Xhang</a:t>
            </a:r>
            <a:endParaRPr lang="en-US" sz="1300" dirty="0"/>
          </a:p>
        </p:txBody>
      </p:sp>
      <p:sp>
        <p:nvSpPr>
          <p:cNvPr id="9" name="Shape 7"/>
          <p:cNvSpPr/>
          <p:nvPr/>
        </p:nvSpPr>
        <p:spPr>
          <a:xfrm>
            <a:off x="548640" y="3840480"/>
            <a:ext cx="5486400" cy="2331720"/>
          </a:xfrm>
          <a:prstGeom prst="roundRect">
            <a:avLst>
              <a:gd name="adj" fmla="val 3137"/>
            </a:avLst>
          </a:prstGeom>
          <a:solidFill>
            <a:srgbClr val="F5F5F5"/>
          </a:solidFill>
          <a:ln/>
        </p:spPr>
      </p:sp>
      <p:sp>
        <p:nvSpPr>
          <p:cNvPr id="10" name="Text 8"/>
          <p:cNvSpPr/>
          <p:nvPr/>
        </p:nvSpPr>
        <p:spPr>
          <a:xfrm>
            <a:off x="777240" y="4005072"/>
            <a:ext cx="5029200" cy="365760"/>
          </a:xfrm>
          <a:prstGeom prst="rect">
            <a:avLst/>
          </a:prstGeom>
          <a:noFill/>
          <a:ln/>
        </p:spPr>
        <p:txBody>
          <a:bodyPr wrap="square" lIns="0" tIns="0" rIns="0" bIns="0" rtlCol="0" anchor="ctr"/>
          <a:lstStyle/>
          <a:p>
            <a:pPr indent="0" marL="0">
              <a:buNone/>
            </a:pPr>
            <a:r>
              <a:rPr lang="en-US" sz="1600" b="1" dirty="0">
                <a:solidFill>
                  <a:srgbClr val="EB001B"/>
                </a:solidFill>
                <a:latin typeface="Arial" pitchFamily="34" charset="0"/>
                <a:ea typeface="Arial" pitchFamily="34" charset="-122"/>
                <a:cs typeface="Arial" pitchFamily="34" charset="-120"/>
              </a:rPr>
              <a:t>The gap</a:t>
            </a:r>
            <a:endParaRPr lang="en-US" sz="1600" dirty="0"/>
          </a:p>
        </p:txBody>
      </p:sp>
      <p:sp>
        <p:nvSpPr>
          <p:cNvPr id="11" name="Text 9"/>
          <p:cNvSpPr/>
          <p:nvPr/>
        </p:nvSpPr>
        <p:spPr>
          <a:xfrm>
            <a:off x="777240" y="4407408"/>
            <a:ext cx="5029200" cy="160020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231F20"/>
                </a:solidFill>
                <a:latin typeface="Arial" pitchFamily="34" charset="0"/>
                <a:ea typeface="Arial" pitchFamily="34" charset="-122"/>
                <a:cs typeface="Arial" pitchFamily="34" charset="-120"/>
              </a:rPr>
              <a:t>No other Network Solutions team has equivalent tooling</a:t>
            </a:r>
            <a:endParaRPr lang="en-US" sz="1300" dirty="0"/>
          </a:p>
          <a:p>
            <a:pPr marL="342900" indent="-342900">
              <a:spcAft>
                <a:spcPts val="600"/>
              </a:spcAft>
              <a:buSzPct val="100000"/>
              <a:buChar char="•"/>
            </a:pPr>
            <a:r>
              <a:rPr lang="en-US" sz="1300" dirty="0">
                <a:solidFill>
                  <a:srgbClr val="231F20"/>
                </a:solidFill>
                <a:latin typeface="Arial" pitchFamily="34" charset="0"/>
                <a:ea typeface="Arial" pitchFamily="34" charset="-122"/>
                <a:cs typeface="Arial" pitchFamily="34" charset="-120"/>
              </a:rPr>
              <a:t>Adoption elsewhere is individual and unmeasured</a:t>
            </a:r>
            <a:endParaRPr lang="en-US" sz="1300" dirty="0"/>
          </a:p>
          <a:p>
            <a:pPr marL="342900" indent="-342900">
              <a:spcAft>
                <a:spcPts val="600"/>
              </a:spcAft>
              <a:buSzPct val="100000"/>
              <a:buChar char="•"/>
            </a:pPr>
            <a:r>
              <a:rPr lang="en-US" sz="1300" dirty="0">
                <a:solidFill>
                  <a:srgbClr val="231F20"/>
                </a:solidFill>
                <a:latin typeface="Arial" pitchFamily="34" charset="0"/>
                <a:ea typeface="Arial" pitchFamily="34" charset="-122"/>
                <a:cs typeface="Arial" pitchFamily="34" charset="-120"/>
              </a:rPr>
              <a:t>No org-level visibility into AI-assisted work, quality impact, or risk points</a:t>
            </a:r>
            <a:endParaRPr lang="en-US" sz="1300" dirty="0"/>
          </a:p>
        </p:txBody>
      </p:sp>
      <p:sp>
        <p:nvSpPr>
          <p:cNvPr id="12" name="Shape 10"/>
          <p:cNvSpPr/>
          <p:nvPr/>
        </p:nvSpPr>
        <p:spPr>
          <a:xfrm>
            <a:off x="6263640" y="3840480"/>
            <a:ext cx="5394960" cy="2331720"/>
          </a:xfrm>
          <a:prstGeom prst="roundRect">
            <a:avLst>
              <a:gd name="adj" fmla="val 3137"/>
            </a:avLst>
          </a:prstGeom>
          <a:solidFill>
            <a:srgbClr val="F5F5F5"/>
          </a:solidFill>
          <a:ln/>
        </p:spPr>
      </p:sp>
      <p:sp>
        <p:nvSpPr>
          <p:cNvPr id="13" name="Text 11"/>
          <p:cNvSpPr/>
          <p:nvPr/>
        </p:nvSpPr>
        <p:spPr>
          <a:xfrm>
            <a:off x="6492240" y="4005072"/>
            <a:ext cx="4937760" cy="365760"/>
          </a:xfrm>
          <a:prstGeom prst="rect">
            <a:avLst/>
          </a:prstGeom>
          <a:noFill/>
          <a:ln/>
        </p:spPr>
        <p:txBody>
          <a:bodyPr wrap="square" lIns="0" tIns="0" rIns="0" bIns="0" rtlCol="0" anchor="ctr"/>
          <a:lstStyle/>
          <a:p>
            <a:pPr indent="0" marL="0">
              <a:buNone/>
            </a:pPr>
            <a:r>
              <a:rPr lang="en-US" sz="1600" b="1" dirty="0">
                <a:solidFill>
                  <a:srgbClr val="231F20"/>
                </a:solidFill>
                <a:latin typeface="Arial" pitchFamily="34" charset="0"/>
                <a:ea typeface="Arial" pitchFamily="34" charset="-122"/>
                <a:cs typeface="Arial" pitchFamily="34" charset="-120"/>
              </a:rPr>
              <a:t>What this means</a:t>
            </a:r>
            <a:endParaRPr lang="en-US" sz="1600" dirty="0"/>
          </a:p>
        </p:txBody>
      </p:sp>
      <p:sp>
        <p:nvSpPr>
          <p:cNvPr id="14" name="Text 12"/>
          <p:cNvSpPr/>
          <p:nvPr/>
        </p:nvSpPr>
        <p:spPr>
          <a:xfrm>
            <a:off x="6492240" y="4407408"/>
            <a:ext cx="4937760" cy="160020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231F20"/>
                </a:solidFill>
                <a:latin typeface="Arial" pitchFamily="34" charset="0"/>
                <a:ea typeface="Arial" pitchFamily="34" charset="-122"/>
                <a:cs typeface="Arial" pitchFamily="34" charset="-120"/>
              </a:rPr>
              <a:t>The building blocks exist and are proven on one product</a:t>
            </a:r>
            <a:endParaRPr lang="en-US" sz="1300" dirty="0"/>
          </a:p>
          <a:p>
            <a:pPr marL="342900" indent="-342900">
              <a:spcAft>
                <a:spcPts val="600"/>
              </a:spcAft>
              <a:buSzPct val="100000"/>
              <a:buChar char="•"/>
            </a:pPr>
            <a:r>
              <a:rPr lang="en-US" sz="1300" dirty="0">
                <a:solidFill>
                  <a:srgbClr val="231F20"/>
                </a:solidFill>
                <a:latin typeface="Arial" pitchFamily="34" charset="0"/>
                <a:ea typeface="Arial" pitchFamily="34" charset="-122"/>
                <a:cs typeface="Arial" pitchFamily="34" charset="-120"/>
              </a:rPr>
              <a:t>The remaining work is convergence, packaging, and rollout, not invention</a:t>
            </a:r>
            <a:endParaRPr lang="en-US" sz="1300" dirty="0"/>
          </a:p>
        </p:txBody>
      </p:sp>
      <p:sp>
        <p:nvSpPr>
          <p:cNvPr id="15" name="Text 13"/>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6E6E6E"/>
                </a:solidFill>
                <a:latin typeface="Arial" pitchFamily="34" charset="0"/>
                <a:ea typeface="Arial" pitchFamily="34" charset="-122"/>
                <a:cs typeface="Arial" pitchFamily="34" charset="-120"/>
              </a:rPr>
              <a:t>AI Adoption Plan  |  Network Solutions  |  July 2026</a:t>
            </a:r>
            <a:endParaRPr lang="en-US" sz="900" dirty="0"/>
          </a:p>
        </p:txBody>
      </p:sp>
      <p:sp>
        <p:nvSpPr>
          <p:cNvPr id="16" name="Text 14"/>
          <p:cNvSpPr/>
          <p:nvPr/>
        </p:nvSpPr>
        <p:spPr>
          <a:xfrm>
            <a:off x="11430000" y="6473952"/>
            <a:ext cx="365760" cy="274320"/>
          </a:xfrm>
          <a:prstGeom prst="rect">
            <a:avLst/>
          </a:prstGeom>
          <a:noFill/>
          <a:ln/>
        </p:spPr>
        <p:txBody>
          <a:bodyPr wrap="square" lIns="0" tIns="0" rIns="0" bIns="0" rtlCol="0" anchor="ctr"/>
          <a:lstStyle/>
          <a:p>
            <a:pPr algn="r" indent="0" marL="0">
              <a:buNone/>
            </a:pPr>
            <a:r>
              <a:rPr lang="en-US" sz="900" dirty="0">
                <a:solidFill>
                  <a:srgbClr val="6E6E6E"/>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640080"/>
          </a:xfrm>
          <a:prstGeom prst="rect">
            <a:avLst/>
          </a:prstGeom>
          <a:noFill/>
          <a:ln/>
        </p:spPr>
        <p:txBody>
          <a:bodyPr wrap="square" lIns="0" tIns="0" rIns="0" bIns="0" rtlCol="0" anchor="ctr"/>
          <a:lstStyle/>
          <a:p>
            <a:pPr indent="0" marL="0">
              <a:buNone/>
            </a:pPr>
            <a:r>
              <a:rPr lang="en-US" sz="3000" b="1" dirty="0">
                <a:solidFill>
                  <a:srgbClr val="231F20"/>
                </a:solidFill>
                <a:latin typeface="Arial" pitchFamily="34" charset="0"/>
                <a:ea typeface="Arial" pitchFamily="34" charset="-122"/>
                <a:cs typeface="Arial" pitchFamily="34" charset="-120"/>
              </a:rPr>
              <a:t>Objectives</a:t>
            </a:r>
            <a:endParaRPr lang="en-US" sz="3000" dirty="0"/>
          </a:p>
        </p:txBody>
      </p:sp>
      <p:sp>
        <p:nvSpPr>
          <p:cNvPr id="3" name="Shape 1"/>
          <p:cNvSpPr/>
          <p:nvPr/>
        </p:nvSpPr>
        <p:spPr>
          <a:xfrm>
            <a:off x="640080" y="1234440"/>
            <a:ext cx="566928" cy="566928"/>
          </a:xfrm>
          <a:prstGeom prst="ellipse">
            <a:avLst/>
          </a:prstGeom>
          <a:solidFill>
            <a:srgbClr val="231F20"/>
          </a:solidFill>
          <a:ln/>
        </p:spPr>
      </p:sp>
      <p:sp>
        <p:nvSpPr>
          <p:cNvPr id="4" name="Text 2"/>
          <p:cNvSpPr/>
          <p:nvPr/>
        </p:nvSpPr>
        <p:spPr>
          <a:xfrm>
            <a:off x="640080" y="123444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5" name="Text 3"/>
          <p:cNvSpPr/>
          <p:nvPr/>
        </p:nvSpPr>
        <p:spPr>
          <a:xfrm>
            <a:off x="1463040" y="1161288"/>
            <a:ext cx="10149840" cy="777240"/>
          </a:xfrm>
          <a:prstGeom prst="rect">
            <a:avLst/>
          </a:prstGeom>
          <a:noFill/>
          <a:ln/>
        </p:spPr>
        <p:txBody>
          <a:bodyPr wrap="square" lIns="0" tIns="0" rIns="0" bIns="0" rtlCol="0" anchor="ctr"/>
          <a:lstStyle/>
          <a:p>
            <a:pPr indent="0" marL="0">
              <a:buNone/>
            </a:pPr>
            <a:r>
              <a:rPr lang="en-US" sz="1600" dirty="0">
                <a:solidFill>
                  <a:srgbClr val="231F20"/>
                </a:solidFill>
                <a:latin typeface="Arial" pitchFamily="34" charset="0"/>
                <a:ea typeface="Arial" pitchFamily="34" charset="-122"/>
                <a:cs typeface="Arial" pitchFamily="34" charset="-120"/>
              </a:rPr>
              <a:t>Give every Network Solutions team access to the baseline AI tooling already proven out on COB</a:t>
            </a:r>
            <a:endParaRPr lang="en-US" sz="1600" dirty="0"/>
          </a:p>
        </p:txBody>
      </p:sp>
      <p:sp>
        <p:nvSpPr>
          <p:cNvPr id="6" name="Shape 4"/>
          <p:cNvSpPr/>
          <p:nvPr/>
        </p:nvSpPr>
        <p:spPr>
          <a:xfrm>
            <a:off x="640080" y="2221992"/>
            <a:ext cx="566928" cy="566928"/>
          </a:xfrm>
          <a:prstGeom prst="ellipse">
            <a:avLst/>
          </a:prstGeom>
          <a:solidFill>
            <a:srgbClr val="231F20"/>
          </a:solidFill>
          <a:ln/>
        </p:spPr>
      </p:sp>
      <p:sp>
        <p:nvSpPr>
          <p:cNvPr id="7" name="Text 5"/>
          <p:cNvSpPr/>
          <p:nvPr/>
        </p:nvSpPr>
        <p:spPr>
          <a:xfrm>
            <a:off x="640080" y="222199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8" name="Text 6"/>
          <p:cNvSpPr/>
          <p:nvPr/>
        </p:nvSpPr>
        <p:spPr>
          <a:xfrm>
            <a:off x="1463040" y="2148840"/>
            <a:ext cx="10149840" cy="777240"/>
          </a:xfrm>
          <a:prstGeom prst="rect">
            <a:avLst/>
          </a:prstGeom>
          <a:noFill/>
          <a:ln/>
        </p:spPr>
        <p:txBody>
          <a:bodyPr wrap="square" lIns="0" tIns="0" rIns="0" bIns="0" rtlCol="0" anchor="ctr"/>
          <a:lstStyle/>
          <a:p>
            <a:pPr indent="0" marL="0">
              <a:buNone/>
            </a:pPr>
            <a:r>
              <a:rPr lang="en-US" sz="1600" dirty="0">
                <a:solidFill>
                  <a:srgbClr val="231F20"/>
                </a:solidFill>
                <a:latin typeface="Arial" pitchFamily="34" charset="0"/>
                <a:ea typeface="Arial" pitchFamily="34" charset="-122"/>
                <a:cs typeface="Arial" pitchFamily="34" charset="-120"/>
              </a:rPr>
              <a:t>Make AI usage visible and measurable at the org level, not just on the COB pilot</a:t>
            </a:r>
            <a:endParaRPr lang="en-US" sz="1600" dirty="0"/>
          </a:p>
        </p:txBody>
      </p:sp>
      <p:sp>
        <p:nvSpPr>
          <p:cNvPr id="9" name="Shape 7"/>
          <p:cNvSpPr/>
          <p:nvPr/>
        </p:nvSpPr>
        <p:spPr>
          <a:xfrm>
            <a:off x="640080" y="3209544"/>
            <a:ext cx="566928" cy="566928"/>
          </a:xfrm>
          <a:prstGeom prst="ellipse">
            <a:avLst/>
          </a:prstGeom>
          <a:solidFill>
            <a:srgbClr val="231F20"/>
          </a:solidFill>
          <a:ln/>
        </p:spPr>
      </p:sp>
      <p:sp>
        <p:nvSpPr>
          <p:cNvPr id="10" name="Text 8"/>
          <p:cNvSpPr/>
          <p:nvPr/>
        </p:nvSpPr>
        <p:spPr>
          <a:xfrm>
            <a:off x="640080" y="320954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1" name="Text 9"/>
          <p:cNvSpPr/>
          <p:nvPr/>
        </p:nvSpPr>
        <p:spPr>
          <a:xfrm>
            <a:off x="1463040" y="3136392"/>
            <a:ext cx="10149840" cy="777240"/>
          </a:xfrm>
          <a:prstGeom prst="rect">
            <a:avLst/>
          </a:prstGeom>
          <a:noFill/>
          <a:ln/>
        </p:spPr>
        <p:txBody>
          <a:bodyPr wrap="square" lIns="0" tIns="0" rIns="0" bIns="0" rtlCol="0" anchor="ctr"/>
          <a:lstStyle/>
          <a:p>
            <a:pPr indent="0" marL="0">
              <a:buNone/>
            </a:pPr>
            <a:r>
              <a:rPr lang="en-US" sz="1600" dirty="0">
                <a:solidFill>
                  <a:srgbClr val="231F20"/>
                </a:solidFill>
                <a:latin typeface="Arial" pitchFamily="34" charset="0"/>
                <a:ea typeface="Arial" pitchFamily="34" charset="-122"/>
                <a:cs typeface="Arial" pitchFamily="34" charset="-120"/>
              </a:rPr>
              <a:t>Keep quality and review standards intact as usage scales, using gating rather than trust-based adoption</a:t>
            </a:r>
            <a:endParaRPr lang="en-US" sz="1600" dirty="0"/>
          </a:p>
        </p:txBody>
      </p:sp>
      <p:sp>
        <p:nvSpPr>
          <p:cNvPr id="12" name="Shape 10"/>
          <p:cNvSpPr/>
          <p:nvPr/>
        </p:nvSpPr>
        <p:spPr>
          <a:xfrm>
            <a:off x="640080" y="4197096"/>
            <a:ext cx="566928" cy="566928"/>
          </a:xfrm>
          <a:prstGeom prst="ellipse">
            <a:avLst/>
          </a:prstGeom>
          <a:solidFill>
            <a:srgbClr val="231F20"/>
          </a:solidFill>
          <a:ln/>
        </p:spPr>
      </p:sp>
      <p:sp>
        <p:nvSpPr>
          <p:cNvPr id="13" name="Text 11"/>
          <p:cNvSpPr/>
          <p:nvPr/>
        </p:nvSpPr>
        <p:spPr>
          <a:xfrm>
            <a:off x="640080" y="419709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14" name="Text 12"/>
          <p:cNvSpPr/>
          <p:nvPr/>
        </p:nvSpPr>
        <p:spPr>
          <a:xfrm>
            <a:off x="1463040" y="4123944"/>
            <a:ext cx="10149840" cy="777240"/>
          </a:xfrm>
          <a:prstGeom prst="rect">
            <a:avLst/>
          </a:prstGeom>
          <a:noFill/>
          <a:ln/>
        </p:spPr>
        <p:txBody>
          <a:bodyPr wrap="square" lIns="0" tIns="0" rIns="0" bIns="0" rtlCol="0" anchor="ctr"/>
          <a:lstStyle/>
          <a:p>
            <a:pPr indent="0" marL="0">
              <a:buNone/>
            </a:pPr>
            <a:r>
              <a:rPr lang="en-US" sz="1600" dirty="0">
                <a:solidFill>
                  <a:srgbClr val="231F20"/>
                </a:solidFill>
                <a:latin typeface="Arial" pitchFamily="34" charset="0"/>
                <a:ea typeface="Arial" pitchFamily="34" charset="-122"/>
                <a:cs typeface="Arial" pitchFamily="34" charset="-120"/>
              </a:rPr>
              <a:t>No parallel bureaucracy: reuse the infrastructure already built instead of building new systems per team</a:t>
            </a:r>
            <a:endParaRPr lang="en-US" sz="1600" dirty="0"/>
          </a:p>
        </p:txBody>
      </p:sp>
      <p:sp>
        <p:nvSpPr>
          <p:cNvPr id="15" name="Shape 13"/>
          <p:cNvSpPr/>
          <p:nvPr/>
        </p:nvSpPr>
        <p:spPr>
          <a:xfrm>
            <a:off x="640080" y="5184648"/>
            <a:ext cx="566928" cy="566928"/>
          </a:xfrm>
          <a:prstGeom prst="ellipse">
            <a:avLst/>
          </a:prstGeom>
          <a:solidFill>
            <a:srgbClr val="FF5F00"/>
          </a:solidFill>
          <a:ln/>
        </p:spPr>
      </p:sp>
      <p:sp>
        <p:nvSpPr>
          <p:cNvPr id="16" name="Text 14"/>
          <p:cNvSpPr/>
          <p:nvPr/>
        </p:nvSpPr>
        <p:spPr>
          <a:xfrm>
            <a:off x="640080" y="5184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5</a:t>
            </a:r>
            <a:endParaRPr lang="en-US" sz="2000" dirty="0"/>
          </a:p>
        </p:txBody>
      </p:sp>
      <p:sp>
        <p:nvSpPr>
          <p:cNvPr id="17" name="Text 15"/>
          <p:cNvSpPr/>
          <p:nvPr/>
        </p:nvSpPr>
        <p:spPr>
          <a:xfrm>
            <a:off x="1463040" y="5111496"/>
            <a:ext cx="10149840" cy="777240"/>
          </a:xfrm>
          <a:prstGeom prst="rect">
            <a:avLst/>
          </a:prstGeom>
          <a:noFill/>
          <a:ln/>
        </p:spPr>
        <p:txBody>
          <a:bodyPr wrap="square" lIns="0" tIns="0" rIns="0" bIns="0" rtlCol="0" anchor="ctr"/>
          <a:lstStyle/>
          <a:p>
            <a:pPr indent="0" marL="0">
              <a:buNone/>
            </a:pPr>
            <a:r>
              <a:rPr lang="en-US" sz="1600" dirty="0">
                <a:solidFill>
                  <a:srgbClr val="231F20"/>
                </a:solidFill>
                <a:latin typeface="Arial" pitchFamily="34" charset="0"/>
                <a:ea typeface="Arial" pitchFamily="34" charset="-122"/>
                <a:cs typeface="Arial" pitchFamily="34" charset="-120"/>
              </a:rPr>
              <a:t>Align with the org-level AI governance framework so this work scales beyond Network Solutions</a:t>
            </a:r>
            <a:endParaRPr lang="en-US" sz="1600" dirty="0"/>
          </a:p>
        </p:txBody>
      </p:sp>
      <p:sp>
        <p:nvSpPr>
          <p:cNvPr id="18" name="Text 16"/>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6E6E6E"/>
                </a:solidFill>
                <a:latin typeface="Arial" pitchFamily="34" charset="0"/>
                <a:ea typeface="Arial" pitchFamily="34" charset="-122"/>
                <a:cs typeface="Arial" pitchFamily="34" charset="-120"/>
              </a:rPr>
              <a:t>AI Adoption Plan  |  Network Solutions  |  July 2026</a:t>
            </a:r>
            <a:endParaRPr lang="en-US" sz="900" dirty="0"/>
          </a:p>
        </p:txBody>
      </p:sp>
      <p:sp>
        <p:nvSpPr>
          <p:cNvPr id="19" name="Text 17"/>
          <p:cNvSpPr/>
          <p:nvPr/>
        </p:nvSpPr>
        <p:spPr>
          <a:xfrm>
            <a:off x="11430000" y="6473952"/>
            <a:ext cx="365760" cy="274320"/>
          </a:xfrm>
          <a:prstGeom prst="rect">
            <a:avLst/>
          </a:prstGeom>
          <a:noFill/>
          <a:ln/>
        </p:spPr>
        <p:txBody>
          <a:bodyPr wrap="square" lIns="0" tIns="0" rIns="0" bIns="0" rtlCol="0" anchor="ctr"/>
          <a:lstStyle/>
          <a:p>
            <a:pPr algn="r" indent="0" marL="0">
              <a:buNone/>
            </a:pPr>
            <a:r>
              <a:rPr lang="en-US" sz="900" dirty="0">
                <a:solidFill>
                  <a:srgbClr val="6E6E6E"/>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640080"/>
          </a:xfrm>
          <a:prstGeom prst="rect">
            <a:avLst/>
          </a:prstGeom>
          <a:noFill/>
          <a:ln/>
        </p:spPr>
        <p:txBody>
          <a:bodyPr wrap="square" lIns="0" tIns="0" rIns="0" bIns="0" rtlCol="0" anchor="ctr"/>
          <a:lstStyle/>
          <a:p>
            <a:pPr indent="0" marL="0">
              <a:buNone/>
            </a:pPr>
            <a:r>
              <a:rPr lang="en-US" sz="3000" b="1" dirty="0">
                <a:solidFill>
                  <a:srgbClr val="231F20"/>
                </a:solidFill>
                <a:latin typeface="Arial" pitchFamily="34" charset="0"/>
                <a:ea typeface="Arial" pitchFamily="34" charset="-122"/>
                <a:cs typeface="Arial" pitchFamily="34" charset="-120"/>
              </a:rPr>
              <a:t>Phased Rollout</a:t>
            </a:r>
            <a:endParaRPr lang="en-US" sz="3000" dirty="0"/>
          </a:p>
        </p:txBody>
      </p:sp>
      <p:sp>
        <p:nvSpPr>
          <p:cNvPr id="3" name="Shape 1"/>
          <p:cNvSpPr/>
          <p:nvPr/>
        </p:nvSpPr>
        <p:spPr>
          <a:xfrm>
            <a:off x="1485900" y="1371600"/>
            <a:ext cx="731520" cy="731520"/>
          </a:xfrm>
          <a:prstGeom prst="ellipse">
            <a:avLst/>
          </a:prstGeom>
          <a:solidFill>
            <a:srgbClr val="FF5F00"/>
          </a:solidFill>
          <a:ln/>
        </p:spPr>
      </p:sp>
      <p:sp>
        <p:nvSpPr>
          <p:cNvPr id="4" name="Text 2"/>
          <p:cNvSpPr/>
          <p:nvPr/>
        </p:nvSpPr>
        <p:spPr>
          <a:xfrm>
            <a:off x="1485900" y="137160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1</a:t>
            </a:r>
            <a:endParaRPr lang="en-US" sz="2600" dirty="0"/>
          </a:p>
        </p:txBody>
      </p:sp>
      <p:sp>
        <p:nvSpPr>
          <p:cNvPr id="5" name="Shape 3"/>
          <p:cNvSpPr/>
          <p:nvPr/>
        </p:nvSpPr>
        <p:spPr>
          <a:xfrm>
            <a:off x="2217420" y="1737360"/>
            <a:ext cx="2194560" cy="0"/>
          </a:xfrm>
          <a:prstGeom prst="line">
            <a:avLst/>
          </a:prstGeom>
          <a:noFill/>
          <a:ln w="25400">
            <a:solidFill>
              <a:srgbClr val="C8C8C8"/>
            </a:solidFill>
            <a:prstDash val="solid"/>
          </a:ln>
        </p:spPr>
      </p:sp>
      <p:sp>
        <p:nvSpPr>
          <p:cNvPr id="6" name="Text 4"/>
          <p:cNvSpPr/>
          <p:nvPr/>
        </p:nvSpPr>
        <p:spPr>
          <a:xfrm>
            <a:off x="548640" y="2286000"/>
            <a:ext cx="2606040" cy="685800"/>
          </a:xfrm>
          <a:prstGeom prst="rect">
            <a:avLst/>
          </a:prstGeom>
          <a:noFill/>
          <a:ln/>
        </p:spPr>
        <p:txBody>
          <a:bodyPr wrap="square" lIns="0" tIns="0" rIns="0" bIns="0" rtlCol="0" anchor="ctr"/>
          <a:lstStyle/>
          <a:p>
            <a:pPr algn="ctr" indent="0" marL="0">
              <a:buNone/>
            </a:pPr>
            <a:r>
              <a:rPr lang="en-US" sz="1600" b="1" dirty="0">
                <a:solidFill>
                  <a:srgbClr val="231F20"/>
                </a:solidFill>
                <a:latin typeface="Arial" pitchFamily="34" charset="0"/>
                <a:ea typeface="Arial" pitchFamily="34" charset="-122"/>
                <a:cs typeface="Arial" pitchFamily="34" charset="-120"/>
              </a:rPr>
              <a:t>Codify, Converge, Package</a:t>
            </a:r>
            <a:endParaRPr lang="en-US" sz="1600" dirty="0"/>
          </a:p>
        </p:txBody>
      </p:sp>
      <p:sp>
        <p:nvSpPr>
          <p:cNvPr id="7" name="Text 5"/>
          <p:cNvSpPr/>
          <p:nvPr/>
        </p:nvSpPr>
        <p:spPr>
          <a:xfrm>
            <a:off x="548640" y="2971800"/>
            <a:ext cx="2606040" cy="320040"/>
          </a:xfrm>
          <a:prstGeom prst="rect">
            <a:avLst/>
          </a:prstGeom>
          <a:noFill/>
          <a:ln/>
        </p:spPr>
        <p:txBody>
          <a:bodyPr wrap="square" lIns="0" tIns="0" rIns="0" bIns="0" rtlCol="0" anchor="ctr"/>
          <a:lstStyle/>
          <a:p>
            <a:pPr algn="ctr" indent="0" marL="0">
              <a:buNone/>
            </a:pPr>
            <a:r>
              <a:rPr lang="en-US" sz="1200" dirty="0">
                <a:solidFill>
                  <a:srgbClr val="6E6E6E"/>
                </a:solidFill>
                <a:latin typeface="Arial" pitchFamily="34" charset="0"/>
                <a:ea typeface="Arial" pitchFamily="34" charset="-122"/>
                <a:cs typeface="Arial" pitchFamily="34" charset="-120"/>
              </a:rPr>
              <a:t>In progress</a:t>
            </a:r>
            <a:endParaRPr lang="en-US" sz="1200" dirty="0"/>
          </a:p>
        </p:txBody>
      </p:sp>
      <p:sp>
        <p:nvSpPr>
          <p:cNvPr id="8" name="Shape 6"/>
          <p:cNvSpPr/>
          <p:nvPr/>
        </p:nvSpPr>
        <p:spPr>
          <a:xfrm>
            <a:off x="4411980" y="1371600"/>
            <a:ext cx="731520" cy="731520"/>
          </a:xfrm>
          <a:prstGeom prst="ellipse">
            <a:avLst/>
          </a:prstGeom>
          <a:solidFill>
            <a:srgbClr val="231F20"/>
          </a:solidFill>
          <a:ln/>
        </p:spPr>
      </p:sp>
      <p:sp>
        <p:nvSpPr>
          <p:cNvPr id="9" name="Text 7"/>
          <p:cNvSpPr/>
          <p:nvPr/>
        </p:nvSpPr>
        <p:spPr>
          <a:xfrm>
            <a:off x="4411980" y="137160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2</a:t>
            </a:r>
            <a:endParaRPr lang="en-US" sz="2600" dirty="0"/>
          </a:p>
        </p:txBody>
      </p:sp>
      <p:sp>
        <p:nvSpPr>
          <p:cNvPr id="10" name="Shape 8"/>
          <p:cNvSpPr/>
          <p:nvPr/>
        </p:nvSpPr>
        <p:spPr>
          <a:xfrm>
            <a:off x="5143500" y="1737360"/>
            <a:ext cx="2194560" cy="0"/>
          </a:xfrm>
          <a:prstGeom prst="line">
            <a:avLst/>
          </a:prstGeom>
          <a:noFill/>
          <a:ln w="25400">
            <a:solidFill>
              <a:srgbClr val="C8C8C8"/>
            </a:solidFill>
            <a:prstDash val="solid"/>
          </a:ln>
        </p:spPr>
      </p:sp>
      <p:sp>
        <p:nvSpPr>
          <p:cNvPr id="11" name="Text 9"/>
          <p:cNvSpPr/>
          <p:nvPr/>
        </p:nvSpPr>
        <p:spPr>
          <a:xfrm>
            <a:off x="3474720" y="2286000"/>
            <a:ext cx="2606040" cy="685800"/>
          </a:xfrm>
          <a:prstGeom prst="rect">
            <a:avLst/>
          </a:prstGeom>
          <a:noFill/>
          <a:ln/>
        </p:spPr>
        <p:txBody>
          <a:bodyPr wrap="square" lIns="0" tIns="0" rIns="0" bIns="0" rtlCol="0" anchor="ctr"/>
          <a:lstStyle/>
          <a:p>
            <a:pPr algn="ctr" indent="0" marL="0">
              <a:buNone/>
            </a:pPr>
            <a:r>
              <a:rPr lang="en-US" sz="1600" b="1" dirty="0">
                <a:solidFill>
                  <a:srgbClr val="231F20"/>
                </a:solidFill>
                <a:latin typeface="Arial" pitchFamily="34" charset="0"/>
                <a:ea typeface="Arial" pitchFamily="34" charset="-122"/>
                <a:cs typeface="Arial" pitchFamily="34" charset="-120"/>
              </a:rPr>
              <a:t>Pilot Expansion</a:t>
            </a:r>
            <a:endParaRPr lang="en-US" sz="1600" dirty="0"/>
          </a:p>
        </p:txBody>
      </p:sp>
      <p:sp>
        <p:nvSpPr>
          <p:cNvPr id="12" name="Text 10"/>
          <p:cNvSpPr/>
          <p:nvPr/>
        </p:nvSpPr>
        <p:spPr>
          <a:xfrm>
            <a:off x="3474720" y="2971800"/>
            <a:ext cx="2606040" cy="320040"/>
          </a:xfrm>
          <a:prstGeom prst="rect">
            <a:avLst/>
          </a:prstGeom>
          <a:noFill/>
          <a:ln/>
        </p:spPr>
        <p:txBody>
          <a:bodyPr wrap="square" lIns="0" tIns="0" rIns="0" bIns="0" rtlCol="0" anchor="ctr"/>
          <a:lstStyle/>
          <a:p>
            <a:pPr algn="ctr" indent="0" marL="0">
              <a:buNone/>
            </a:pPr>
            <a:r>
              <a:rPr lang="en-US" sz="1200" dirty="0">
                <a:solidFill>
                  <a:srgbClr val="6E6E6E"/>
                </a:solidFill>
                <a:latin typeface="Arial" pitchFamily="34" charset="0"/>
                <a:ea typeface="Arial" pitchFamily="34" charset="-122"/>
                <a:cs typeface="Arial" pitchFamily="34" charset="-120"/>
              </a:rPr>
              <a:t>4-6 weeks</a:t>
            </a:r>
            <a:endParaRPr lang="en-US" sz="1200" dirty="0"/>
          </a:p>
        </p:txBody>
      </p:sp>
      <p:sp>
        <p:nvSpPr>
          <p:cNvPr id="13" name="Shape 11"/>
          <p:cNvSpPr/>
          <p:nvPr/>
        </p:nvSpPr>
        <p:spPr>
          <a:xfrm>
            <a:off x="7338060" y="1371600"/>
            <a:ext cx="731520" cy="731520"/>
          </a:xfrm>
          <a:prstGeom prst="ellipse">
            <a:avLst/>
          </a:prstGeom>
          <a:solidFill>
            <a:srgbClr val="231F20"/>
          </a:solidFill>
          <a:ln/>
        </p:spPr>
      </p:sp>
      <p:sp>
        <p:nvSpPr>
          <p:cNvPr id="14" name="Text 12"/>
          <p:cNvSpPr/>
          <p:nvPr/>
        </p:nvSpPr>
        <p:spPr>
          <a:xfrm>
            <a:off x="7338060" y="137160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3</a:t>
            </a:r>
            <a:endParaRPr lang="en-US" sz="2600" dirty="0"/>
          </a:p>
        </p:txBody>
      </p:sp>
      <p:sp>
        <p:nvSpPr>
          <p:cNvPr id="15" name="Shape 13"/>
          <p:cNvSpPr/>
          <p:nvPr/>
        </p:nvSpPr>
        <p:spPr>
          <a:xfrm>
            <a:off x="8069580" y="1737360"/>
            <a:ext cx="2194560" cy="0"/>
          </a:xfrm>
          <a:prstGeom prst="line">
            <a:avLst/>
          </a:prstGeom>
          <a:noFill/>
          <a:ln w="25400">
            <a:solidFill>
              <a:srgbClr val="C8C8C8"/>
            </a:solidFill>
            <a:prstDash val="solid"/>
          </a:ln>
        </p:spPr>
      </p:sp>
      <p:sp>
        <p:nvSpPr>
          <p:cNvPr id="16" name="Text 14"/>
          <p:cNvSpPr/>
          <p:nvPr/>
        </p:nvSpPr>
        <p:spPr>
          <a:xfrm>
            <a:off x="6400800" y="2286000"/>
            <a:ext cx="2606040" cy="685800"/>
          </a:xfrm>
          <a:prstGeom prst="rect">
            <a:avLst/>
          </a:prstGeom>
          <a:noFill/>
          <a:ln/>
        </p:spPr>
        <p:txBody>
          <a:bodyPr wrap="square" lIns="0" tIns="0" rIns="0" bIns="0" rtlCol="0" anchor="ctr"/>
          <a:lstStyle/>
          <a:p>
            <a:pPr algn="ctr" indent="0" marL="0">
              <a:buNone/>
            </a:pPr>
            <a:r>
              <a:rPr lang="en-US" sz="1600" b="1" dirty="0">
                <a:solidFill>
                  <a:srgbClr val="231F20"/>
                </a:solidFill>
                <a:latin typeface="Arial" pitchFamily="34" charset="0"/>
                <a:ea typeface="Arial" pitchFamily="34" charset="-122"/>
                <a:cs typeface="Arial" pitchFamily="34" charset="-120"/>
              </a:rPr>
              <a:t>Org-Wide Rollout</a:t>
            </a:r>
            <a:endParaRPr lang="en-US" sz="1600" dirty="0"/>
          </a:p>
        </p:txBody>
      </p:sp>
      <p:sp>
        <p:nvSpPr>
          <p:cNvPr id="17" name="Text 15"/>
          <p:cNvSpPr/>
          <p:nvPr/>
        </p:nvSpPr>
        <p:spPr>
          <a:xfrm>
            <a:off x="6400800" y="2971800"/>
            <a:ext cx="2606040" cy="320040"/>
          </a:xfrm>
          <a:prstGeom prst="rect">
            <a:avLst/>
          </a:prstGeom>
          <a:noFill/>
          <a:ln/>
        </p:spPr>
        <p:txBody>
          <a:bodyPr wrap="square" lIns="0" tIns="0" rIns="0" bIns="0" rtlCol="0" anchor="ctr"/>
          <a:lstStyle/>
          <a:p>
            <a:pPr algn="ctr" indent="0" marL="0">
              <a:buNone/>
            </a:pPr>
            <a:r>
              <a:rPr lang="en-US" sz="1200" dirty="0">
                <a:solidFill>
                  <a:srgbClr val="6E6E6E"/>
                </a:solidFill>
                <a:latin typeface="Arial" pitchFamily="34" charset="0"/>
                <a:ea typeface="Arial" pitchFamily="34" charset="-122"/>
                <a:cs typeface="Arial" pitchFamily="34" charset="-120"/>
              </a:rPr>
              <a:t>4-8 weeks after Phase 2</a:t>
            </a:r>
            <a:endParaRPr lang="en-US" sz="1200" dirty="0"/>
          </a:p>
        </p:txBody>
      </p:sp>
      <p:sp>
        <p:nvSpPr>
          <p:cNvPr id="18" name="Shape 16"/>
          <p:cNvSpPr/>
          <p:nvPr/>
        </p:nvSpPr>
        <p:spPr>
          <a:xfrm>
            <a:off x="10264140" y="1371600"/>
            <a:ext cx="731520" cy="731520"/>
          </a:xfrm>
          <a:prstGeom prst="ellipse">
            <a:avLst/>
          </a:prstGeom>
          <a:solidFill>
            <a:srgbClr val="231F20"/>
          </a:solidFill>
          <a:ln/>
        </p:spPr>
      </p:sp>
      <p:sp>
        <p:nvSpPr>
          <p:cNvPr id="19" name="Text 17"/>
          <p:cNvSpPr/>
          <p:nvPr/>
        </p:nvSpPr>
        <p:spPr>
          <a:xfrm>
            <a:off x="10264140" y="137160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4</a:t>
            </a:r>
            <a:endParaRPr lang="en-US" sz="2600" dirty="0"/>
          </a:p>
        </p:txBody>
      </p:sp>
      <p:sp>
        <p:nvSpPr>
          <p:cNvPr id="20" name="Text 18"/>
          <p:cNvSpPr/>
          <p:nvPr/>
        </p:nvSpPr>
        <p:spPr>
          <a:xfrm>
            <a:off x="9326880" y="2286000"/>
            <a:ext cx="2606040" cy="685800"/>
          </a:xfrm>
          <a:prstGeom prst="rect">
            <a:avLst/>
          </a:prstGeom>
          <a:noFill/>
          <a:ln/>
        </p:spPr>
        <p:txBody>
          <a:bodyPr wrap="square" lIns="0" tIns="0" rIns="0" bIns="0" rtlCol="0" anchor="ctr"/>
          <a:lstStyle/>
          <a:p>
            <a:pPr algn="ctr" indent="0" marL="0">
              <a:buNone/>
            </a:pPr>
            <a:r>
              <a:rPr lang="en-US" sz="1600" b="1" dirty="0">
                <a:solidFill>
                  <a:srgbClr val="231F20"/>
                </a:solidFill>
                <a:latin typeface="Arial" pitchFamily="34" charset="0"/>
                <a:ea typeface="Arial" pitchFamily="34" charset="-122"/>
                <a:cs typeface="Arial" pitchFamily="34" charset="-120"/>
              </a:rPr>
              <a:t>Governance and Reporting</a:t>
            </a:r>
            <a:endParaRPr lang="en-US" sz="1600" dirty="0"/>
          </a:p>
        </p:txBody>
      </p:sp>
      <p:sp>
        <p:nvSpPr>
          <p:cNvPr id="21" name="Text 19"/>
          <p:cNvSpPr/>
          <p:nvPr/>
        </p:nvSpPr>
        <p:spPr>
          <a:xfrm>
            <a:off x="9326880" y="2971800"/>
            <a:ext cx="2606040" cy="320040"/>
          </a:xfrm>
          <a:prstGeom prst="rect">
            <a:avLst/>
          </a:prstGeom>
          <a:noFill/>
          <a:ln/>
        </p:spPr>
        <p:txBody>
          <a:bodyPr wrap="square" lIns="0" tIns="0" rIns="0" bIns="0" rtlCol="0" anchor="ctr"/>
          <a:lstStyle/>
          <a:p>
            <a:pPr algn="ctr" indent="0" marL="0">
              <a:buNone/>
            </a:pPr>
            <a:r>
              <a:rPr lang="en-US" sz="1200" dirty="0">
                <a:solidFill>
                  <a:srgbClr val="6E6E6E"/>
                </a:solidFill>
                <a:latin typeface="Arial" pitchFamily="34" charset="0"/>
                <a:ea typeface="Arial" pitchFamily="34" charset="-122"/>
                <a:cs typeface="Arial" pitchFamily="34" charset="-120"/>
              </a:rPr>
              <a:t>Ongoing</a:t>
            </a:r>
            <a:endParaRPr lang="en-US" sz="1200" dirty="0"/>
          </a:p>
        </p:txBody>
      </p:sp>
      <p:sp>
        <p:nvSpPr>
          <p:cNvPr id="22" name="Shape 20"/>
          <p:cNvSpPr/>
          <p:nvPr/>
        </p:nvSpPr>
        <p:spPr>
          <a:xfrm>
            <a:off x="548640" y="3520440"/>
            <a:ext cx="2606040" cy="2331720"/>
          </a:xfrm>
          <a:prstGeom prst="roundRect">
            <a:avLst>
              <a:gd name="adj" fmla="val 3137"/>
            </a:avLst>
          </a:prstGeom>
          <a:solidFill>
            <a:srgbClr val="F5F5F5"/>
          </a:solidFill>
          <a:ln/>
        </p:spPr>
      </p:sp>
      <p:sp>
        <p:nvSpPr>
          <p:cNvPr id="23" name="Text 21"/>
          <p:cNvSpPr/>
          <p:nvPr/>
        </p:nvSpPr>
        <p:spPr>
          <a:xfrm>
            <a:off x="731520" y="3703320"/>
            <a:ext cx="2240280" cy="1965960"/>
          </a:xfrm>
          <a:prstGeom prst="rect">
            <a:avLst/>
          </a:prstGeom>
          <a:noFill/>
          <a:ln/>
        </p:spPr>
        <p:txBody>
          <a:bodyPr wrap="square" lIns="0" tIns="0" rIns="0" bIns="0" rtlCol="0" anchor="ctr"/>
          <a:lstStyle/>
          <a:p>
            <a:pPr indent="0" marL="0">
              <a:lnSpc>
                <a:spcPct val="115000"/>
              </a:lnSpc>
              <a:buNone/>
            </a:pPr>
            <a:r>
              <a:rPr lang="en-US" sz="1250" dirty="0">
                <a:solidFill>
                  <a:srgbClr val="231F20"/>
                </a:solidFill>
                <a:latin typeface="Arial" pitchFamily="34" charset="0"/>
                <a:ea typeface="Arial" pitchFamily="34" charset="-122"/>
                <a:cs typeface="Arial" pitchFamily="34" charset="-120"/>
              </a:rPr>
              <a:t>Convergence with Treasury Services, merge into the shared skills repo, reusable documented components</a:t>
            </a:r>
            <a:endParaRPr lang="en-US" sz="1250" dirty="0"/>
          </a:p>
        </p:txBody>
      </p:sp>
      <p:sp>
        <p:nvSpPr>
          <p:cNvPr id="24" name="Shape 22"/>
          <p:cNvSpPr/>
          <p:nvPr/>
        </p:nvSpPr>
        <p:spPr>
          <a:xfrm>
            <a:off x="3474720" y="3520440"/>
            <a:ext cx="2606040" cy="2331720"/>
          </a:xfrm>
          <a:prstGeom prst="roundRect">
            <a:avLst>
              <a:gd name="adj" fmla="val 3137"/>
            </a:avLst>
          </a:prstGeom>
          <a:solidFill>
            <a:srgbClr val="F5F5F5"/>
          </a:solidFill>
          <a:ln/>
        </p:spPr>
      </p:sp>
      <p:sp>
        <p:nvSpPr>
          <p:cNvPr id="25" name="Text 23"/>
          <p:cNvSpPr/>
          <p:nvPr/>
        </p:nvSpPr>
        <p:spPr>
          <a:xfrm>
            <a:off x="3657600" y="3703320"/>
            <a:ext cx="2240280" cy="1965960"/>
          </a:xfrm>
          <a:prstGeom prst="rect">
            <a:avLst/>
          </a:prstGeom>
          <a:noFill/>
          <a:ln/>
        </p:spPr>
        <p:txBody>
          <a:bodyPr wrap="square" lIns="0" tIns="0" rIns="0" bIns="0" rtlCol="0" anchor="ctr"/>
          <a:lstStyle/>
          <a:p>
            <a:pPr indent="0" marL="0">
              <a:lnSpc>
                <a:spcPct val="115000"/>
              </a:lnSpc>
              <a:buNone/>
            </a:pPr>
            <a:r>
              <a:rPr lang="en-US" sz="1250" dirty="0">
                <a:solidFill>
                  <a:srgbClr val="231F20"/>
                </a:solidFill>
                <a:latin typeface="Arial" pitchFamily="34" charset="0"/>
                <a:ea typeface="Arial" pitchFamily="34" charset="-122"/>
                <a:cs typeface="Arial" pitchFamily="34" charset="-120"/>
              </a:rPr>
              <a:t>1-2 pilot teams install via marketplace, friction tracked, weekly syncs</a:t>
            </a:r>
            <a:endParaRPr lang="en-US" sz="1250" dirty="0"/>
          </a:p>
        </p:txBody>
      </p:sp>
      <p:sp>
        <p:nvSpPr>
          <p:cNvPr id="26" name="Shape 24"/>
          <p:cNvSpPr/>
          <p:nvPr/>
        </p:nvSpPr>
        <p:spPr>
          <a:xfrm>
            <a:off x="6400800" y="3520440"/>
            <a:ext cx="2606040" cy="2331720"/>
          </a:xfrm>
          <a:prstGeom prst="roundRect">
            <a:avLst>
              <a:gd name="adj" fmla="val 3137"/>
            </a:avLst>
          </a:prstGeom>
          <a:solidFill>
            <a:srgbClr val="F5F5F5"/>
          </a:solidFill>
          <a:ln/>
        </p:spPr>
      </p:sp>
      <p:sp>
        <p:nvSpPr>
          <p:cNvPr id="27" name="Text 25"/>
          <p:cNvSpPr/>
          <p:nvPr/>
        </p:nvSpPr>
        <p:spPr>
          <a:xfrm>
            <a:off x="6583680" y="3703320"/>
            <a:ext cx="2240280" cy="1965960"/>
          </a:xfrm>
          <a:prstGeom prst="rect">
            <a:avLst/>
          </a:prstGeom>
          <a:noFill/>
          <a:ln/>
        </p:spPr>
        <p:txBody>
          <a:bodyPr wrap="square" lIns="0" tIns="0" rIns="0" bIns="0" rtlCol="0" anchor="ctr"/>
          <a:lstStyle/>
          <a:p>
            <a:pPr indent="0" marL="0">
              <a:lnSpc>
                <a:spcPct val="115000"/>
              </a:lnSpc>
              <a:buNone/>
            </a:pPr>
            <a:r>
              <a:rPr lang="en-US" sz="1250" dirty="0">
                <a:solidFill>
                  <a:srgbClr val="231F20"/>
                </a:solidFill>
                <a:latin typeface="Arial" pitchFamily="34" charset="0"/>
                <a:ea typeface="Arial" pitchFamily="34" charset="-122"/>
                <a:cs typeface="Arial" pitchFamily="34" charset="-120"/>
              </a:rPr>
              <a:t>All Network Solutions repos, onboarding guide, per-team POCs, payments group presentation</a:t>
            </a:r>
            <a:endParaRPr lang="en-US" sz="1250" dirty="0"/>
          </a:p>
        </p:txBody>
      </p:sp>
      <p:sp>
        <p:nvSpPr>
          <p:cNvPr id="28" name="Shape 26"/>
          <p:cNvSpPr/>
          <p:nvPr/>
        </p:nvSpPr>
        <p:spPr>
          <a:xfrm>
            <a:off x="9326880" y="3520440"/>
            <a:ext cx="2606040" cy="2331720"/>
          </a:xfrm>
          <a:prstGeom prst="roundRect">
            <a:avLst>
              <a:gd name="adj" fmla="val 3137"/>
            </a:avLst>
          </a:prstGeom>
          <a:solidFill>
            <a:srgbClr val="F5F5F5"/>
          </a:solidFill>
          <a:ln/>
        </p:spPr>
      </p:sp>
      <p:sp>
        <p:nvSpPr>
          <p:cNvPr id="29" name="Text 27"/>
          <p:cNvSpPr/>
          <p:nvPr/>
        </p:nvSpPr>
        <p:spPr>
          <a:xfrm>
            <a:off x="9509760" y="3703320"/>
            <a:ext cx="2240280" cy="1965960"/>
          </a:xfrm>
          <a:prstGeom prst="rect">
            <a:avLst/>
          </a:prstGeom>
          <a:noFill/>
          <a:ln/>
        </p:spPr>
        <p:txBody>
          <a:bodyPr wrap="square" lIns="0" tIns="0" rIns="0" bIns="0" rtlCol="0" anchor="ctr"/>
          <a:lstStyle/>
          <a:p>
            <a:pPr indent="0" marL="0">
              <a:lnSpc>
                <a:spcPct val="115000"/>
              </a:lnSpc>
              <a:buNone/>
            </a:pPr>
            <a:r>
              <a:rPr lang="en-US" sz="1250" dirty="0">
                <a:solidFill>
                  <a:srgbClr val="231F20"/>
                </a:solidFill>
                <a:latin typeface="Arial" pitchFamily="34" charset="0"/>
                <a:ea typeface="Arial" pitchFamily="34" charset="-122"/>
                <a:cs typeface="Arial" pitchFamily="34" charset="-120"/>
              </a:rPr>
              <a:t>Standing usage reporting, pre/post AIDLC dashboard, evidence-pack model, skill metadata governance</a:t>
            </a:r>
            <a:endParaRPr lang="en-US" sz="1250" dirty="0"/>
          </a:p>
        </p:txBody>
      </p:sp>
      <p:sp>
        <p:nvSpPr>
          <p:cNvPr id="30" name="Text 28"/>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6E6E6E"/>
                </a:solidFill>
                <a:latin typeface="Arial" pitchFamily="34" charset="0"/>
                <a:ea typeface="Arial" pitchFamily="34" charset="-122"/>
                <a:cs typeface="Arial" pitchFamily="34" charset="-120"/>
              </a:rPr>
              <a:t>AI Adoption Plan  |  Network Solutions  |  July 2026</a:t>
            </a:r>
            <a:endParaRPr lang="en-US" sz="900" dirty="0"/>
          </a:p>
        </p:txBody>
      </p:sp>
      <p:sp>
        <p:nvSpPr>
          <p:cNvPr id="31" name="Text 29"/>
          <p:cNvSpPr/>
          <p:nvPr/>
        </p:nvSpPr>
        <p:spPr>
          <a:xfrm>
            <a:off x="11430000" y="6473952"/>
            <a:ext cx="365760" cy="274320"/>
          </a:xfrm>
          <a:prstGeom prst="rect">
            <a:avLst/>
          </a:prstGeom>
          <a:noFill/>
          <a:ln/>
        </p:spPr>
        <p:txBody>
          <a:bodyPr wrap="square" lIns="0" tIns="0" rIns="0" bIns="0" rtlCol="0" anchor="ctr"/>
          <a:lstStyle/>
          <a:p>
            <a:pPr algn="r" indent="0" marL="0">
              <a:buNone/>
            </a:pPr>
            <a:r>
              <a:rPr lang="en-US" sz="900" dirty="0">
                <a:solidFill>
                  <a:srgbClr val="6E6E6E"/>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640080"/>
          </a:xfrm>
          <a:prstGeom prst="rect">
            <a:avLst/>
          </a:prstGeom>
          <a:noFill/>
          <a:ln/>
        </p:spPr>
        <p:txBody>
          <a:bodyPr wrap="square" lIns="0" tIns="0" rIns="0" bIns="0" rtlCol="0" anchor="ctr"/>
          <a:lstStyle/>
          <a:p>
            <a:pPr indent="0" marL="0">
              <a:buNone/>
            </a:pPr>
            <a:r>
              <a:rPr lang="en-US" sz="3000" b="1" dirty="0">
                <a:solidFill>
                  <a:srgbClr val="231F20"/>
                </a:solidFill>
                <a:latin typeface="Arial" pitchFamily="34" charset="0"/>
                <a:ea typeface="Arial" pitchFamily="34" charset="-122"/>
                <a:cs typeface="Arial" pitchFamily="34" charset="-120"/>
              </a:rPr>
              <a:t>Phase 1 and 2: Converge, Package, Pilot</a:t>
            </a:r>
            <a:endParaRPr lang="en-US" sz="3000" dirty="0"/>
          </a:p>
        </p:txBody>
      </p:sp>
      <p:sp>
        <p:nvSpPr>
          <p:cNvPr id="3" name="Text 1"/>
          <p:cNvSpPr/>
          <p:nvPr/>
        </p:nvSpPr>
        <p:spPr>
          <a:xfrm>
            <a:off x="548640" y="1188720"/>
            <a:ext cx="5394960" cy="457200"/>
          </a:xfrm>
          <a:prstGeom prst="rect">
            <a:avLst/>
          </a:prstGeom>
          <a:noFill/>
          <a:ln/>
        </p:spPr>
        <p:txBody>
          <a:bodyPr wrap="square" lIns="0" tIns="0" rIns="0" bIns="0" rtlCol="0" anchor="ctr"/>
          <a:lstStyle/>
          <a:p>
            <a:pPr indent="0" marL="0">
              <a:buNone/>
            </a:pPr>
            <a:r>
              <a:rPr lang="en-US" sz="1700" b="1" dirty="0">
                <a:solidFill>
                  <a:srgbClr val="FF5F00"/>
                </a:solidFill>
                <a:latin typeface="Arial" pitchFamily="34" charset="0"/>
                <a:ea typeface="Arial" pitchFamily="34" charset="-122"/>
                <a:cs typeface="Arial" pitchFamily="34" charset="-120"/>
              </a:rPr>
              <a:t>Phase 1: Codify, Converge, Package (in progress)</a:t>
            </a:r>
            <a:endParaRPr lang="en-US" sz="1700" dirty="0"/>
          </a:p>
        </p:txBody>
      </p:sp>
      <p:sp>
        <p:nvSpPr>
          <p:cNvPr id="4" name="Text 2"/>
          <p:cNvSpPr/>
          <p:nvPr/>
        </p:nvSpPr>
        <p:spPr>
          <a:xfrm>
            <a:off x="548640" y="1691640"/>
            <a:ext cx="5394960" cy="4206240"/>
          </a:xfrm>
          <a:prstGeom prst="rect">
            <a:avLst/>
          </a:prstGeom>
          <a:noFill/>
          <a:ln/>
        </p:spPr>
        <p:txBody>
          <a:bodyPr wrap="square" lIns="0" tIns="0" rIns="0" bIns="0" rtlCol="0" anchor="ctr"/>
          <a:lstStyle/>
          <a:p>
            <a:pPr marL="342900" indent="-342900">
              <a:spcAft>
                <a:spcPts val="900"/>
              </a:spcAft>
              <a:buSzPct val="100000"/>
              <a:buChar char="•"/>
            </a:pPr>
            <a:r>
              <a:rPr lang="en-US" sz="1350" dirty="0">
                <a:solidFill>
                  <a:srgbClr val="231F20"/>
                </a:solidFill>
                <a:latin typeface="Arial" pitchFamily="34" charset="0"/>
                <a:ea typeface="Arial" pitchFamily="34" charset="-122"/>
                <a:cs typeface="Arial" pitchFamily="34" charset="-120"/>
              </a:rPr>
              <a:t>Feature-delivery skill and PR-gating usage tracker running on COB as the first product</a:t>
            </a:r>
            <a:endParaRPr lang="en-US" sz="1350" dirty="0"/>
          </a:p>
          <a:p>
            <a:pPr marL="342900" indent="-342900">
              <a:spcAft>
                <a:spcPts val="900"/>
              </a:spcAft>
              <a:buSzPct val="100000"/>
              <a:buChar char="•"/>
            </a:pPr>
            <a:r>
              <a:rPr lang="en-US" sz="1350" dirty="0">
                <a:solidFill>
                  <a:srgbClr val="231F20"/>
                </a:solidFill>
                <a:latin typeface="Arial" pitchFamily="34" charset="0"/>
                <a:ea typeface="Arial" pitchFamily="34" charset="-122"/>
                <a:cs typeface="Arial" pitchFamily="34" charset="-120"/>
              </a:rPr>
              <a:t>PR review skill packaged into marketplace format</a:t>
            </a:r>
            <a:endParaRPr lang="en-US" sz="1350" dirty="0"/>
          </a:p>
          <a:p>
            <a:pPr marL="342900" indent="-342900">
              <a:spcAft>
                <a:spcPts val="900"/>
              </a:spcAft>
              <a:buSzPct val="100000"/>
              <a:buChar char="•"/>
            </a:pPr>
            <a:r>
              <a:rPr lang="en-US" sz="1350" dirty="0">
                <a:solidFill>
                  <a:srgbClr val="231F20"/>
                </a:solidFill>
                <a:latin typeface="Arial" pitchFamily="34" charset="0"/>
                <a:ea typeface="Arial" pitchFamily="34" charset="-122"/>
                <a:cs typeface="Arial" pitchFamily="34" charset="-120"/>
              </a:rPr>
              <a:t>Convergence with the Treasury Services POC: one agreed approach combining their production learnings with the AIDLC architecture (routing by work type, confidence-gated open questions, context-isolated review agents)</a:t>
            </a:r>
            <a:endParaRPr lang="en-US" sz="1350" dirty="0"/>
          </a:p>
          <a:p>
            <a:pPr marL="342900" indent="-342900">
              <a:spcAft>
                <a:spcPts val="900"/>
              </a:spcAft>
              <a:buSzPct val="100000"/>
              <a:buChar char="•"/>
            </a:pPr>
            <a:r>
              <a:rPr lang="en-US" sz="1350" dirty="0">
                <a:solidFill>
                  <a:srgbClr val="231F20"/>
                </a:solidFill>
                <a:latin typeface="Arial" pitchFamily="34" charset="0"/>
                <a:ea typeface="Arial" pitchFamily="34" charset="-122"/>
                <a:cs typeface="Arial" pitchFamily="34" charset="-120"/>
              </a:rPr>
              <a:t>Skills merged into Maveric Xhang's shared skills repo with ownership, versioning, and change review defined</a:t>
            </a:r>
            <a:endParaRPr lang="en-US" sz="1350" dirty="0"/>
          </a:p>
        </p:txBody>
      </p:sp>
      <p:sp>
        <p:nvSpPr>
          <p:cNvPr id="5" name="Text 3"/>
          <p:cNvSpPr/>
          <p:nvPr/>
        </p:nvSpPr>
        <p:spPr>
          <a:xfrm>
            <a:off x="6309360" y="1188720"/>
            <a:ext cx="5303520" cy="457200"/>
          </a:xfrm>
          <a:prstGeom prst="rect">
            <a:avLst/>
          </a:prstGeom>
          <a:noFill/>
          <a:ln/>
        </p:spPr>
        <p:txBody>
          <a:bodyPr wrap="square" lIns="0" tIns="0" rIns="0" bIns="0" rtlCol="0" anchor="ctr"/>
          <a:lstStyle/>
          <a:p>
            <a:pPr indent="0" marL="0">
              <a:buNone/>
            </a:pPr>
            <a:r>
              <a:rPr lang="en-US" sz="1700" b="1" dirty="0">
                <a:solidFill>
                  <a:srgbClr val="231F20"/>
                </a:solidFill>
                <a:latin typeface="Arial" pitchFamily="34" charset="0"/>
                <a:ea typeface="Arial" pitchFamily="34" charset="-122"/>
                <a:cs typeface="Arial" pitchFamily="34" charset="-120"/>
              </a:rPr>
              <a:t>Phase 2: Pilot Expansion (4-6 weeks)</a:t>
            </a:r>
            <a:endParaRPr lang="en-US" sz="1700" dirty="0"/>
          </a:p>
        </p:txBody>
      </p:sp>
      <p:sp>
        <p:nvSpPr>
          <p:cNvPr id="6" name="Text 4"/>
          <p:cNvSpPr/>
          <p:nvPr/>
        </p:nvSpPr>
        <p:spPr>
          <a:xfrm>
            <a:off x="6309360" y="1691640"/>
            <a:ext cx="5303520" cy="4206240"/>
          </a:xfrm>
          <a:prstGeom prst="rect">
            <a:avLst/>
          </a:prstGeom>
          <a:noFill/>
          <a:ln/>
        </p:spPr>
        <p:txBody>
          <a:bodyPr wrap="square" lIns="0" tIns="0" rIns="0" bIns="0" rtlCol="0" anchor="ctr"/>
          <a:lstStyle/>
          <a:p>
            <a:pPr marL="342900" indent="-342900">
              <a:spcAft>
                <a:spcPts val="900"/>
              </a:spcAft>
              <a:buSzPct val="100000"/>
              <a:buChar char="•"/>
            </a:pPr>
            <a:r>
              <a:rPr lang="en-US" sz="1350" dirty="0">
                <a:solidFill>
                  <a:srgbClr val="231F20"/>
                </a:solidFill>
                <a:latin typeface="Arial" pitchFamily="34" charset="0"/>
                <a:ea typeface="Arial" pitchFamily="34" charset="-122"/>
                <a:cs typeface="Arial" pitchFamily="34" charset="-120"/>
              </a:rPr>
              <a:t>1-2 Network Solutions teams with active repos and willing tech leads</a:t>
            </a:r>
            <a:endParaRPr lang="en-US" sz="1350" dirty="0"/>
          </a:p>
          <a:p>
            <a:pPr marL="342900" indent="-342900">
              <a:spcAft>
                <a:spcPts val="900"/>
              </a:spcAft>
              <a:buSzPct val="100000"/>
              <a:buChar char="•"/>
            </a:pPr>
            <a:r>
              <a:rPr lang="en-US" sz="1350" dirty="0">
                <a:solidFill>
                  <a:srgbClr val="231F20"/>
                </a:solidFill>
                <a:latin typeface="Arial" pitchFamily="34" charset="0"/>
                <a:ea typeface="Arial" pitchFamily="34" charset="-122"/>
                <a:cs typeface="Arial" pitchFamily="34" charset="-120"/>
              </a:rPr>
              <a:t>PR review skill and usage tracker installed via the marketplace structure</a:t>
            </a:r>
            <a:endParaRPr lang="en-US" sz="1350" dirty="0"/>
          </a:p>
          <a:p>
            <a:pPr marL="342900" indent="-342900">
              <a:spcAft>
                <a:spcPts val="900"/>
              </a:spcAft>
              <a:buSzPct val="100000"/>
              <a:buChar char="•"/>
            </a:pPr>
            <a:r>
              <a:rPr lang="en-US" sz="1350" dirty="0">
                <a:solidFill>
                  <a:srgbClr val="231F20"/>
                </a:solidFill>
                <a:latin typeface="Arial" pitchFamily="34" charset="0"/>
                <a:ea typeface="Arial" pitchFamily="34" charset="-122"/>
                <a:cs typeface="Arial" pitchFamily="34" charset="-120"/>
              </a:rPr>
              <a:t>Adoption friction tracked: setup time, false positives in gating, skill misfires</a:t>
            </a:r>
            <a:endParaRPr lang="en-US" sz="1350" dirty="0"/>
          </a:p>
          <a:p>
            <a:pPr marL="342900" indent="-342900">
              <a:spcAft>
                <a:spcPts val="900"/>
              </a:spcAft>
              <a:buSzPct val="100000"/>
              <a:buChar char="•"/>
            </a:pPr>
            <a:r>
              <a:rPr lang="en-US" sz="1350" dirty="0">
                <a:solidFill>
                  <a:srgbClr val="231F20"/>
                </a:solidFill>
                <a:latin typeface="Arial" pitchFamily="34" charset="0"/>
                <a:ea typeface="Arial" pitchFamily="34" charset="-122"/>
                <a:cs typeface="Arial" pitchFamily="34" charset="-120"/>
              </a:rPr>
              <a:t>Weekly sync with pilot teams to capture changes needed before wider rollout</a:t>
            </a:r>
            <a:endParaRPr lang="en-US" sz="1350" dirty="0"/>
          </a:p>
          <a:p>
            <a:pPr marL="342900" indent="-342900">
              <a:spcAft>
                <a:spcPts val="900"/>
              </a:spcAft>
              <a:buSzPct val="100000"/>
              <a:buChar char="•"/>
            </a:pPr>
            <a:r>
              <a:rPr lang="en-US" sz="1350" dirty="0">
                <a:solidFill>
                  <a:srgbClr val="231F20"/>
                </a:solidFill>
                <a:latin typeface="Arial" pitchFamily="34" charset="0"/>
                <a:ea typeface="Arial" pitchFamily="34" charset="-122"/>
                <a:cs typeface="Arial" pitchFamily="34" charset="-120"/>
              </a:rPr>
              <a:t>Soft gates (warnings) first; hard gates only after the false-positive rate is low</a:t>
            </a:r>
            <a:endParaRPr lang="en-US" sz="1350" dirty="0"/>
          </a:p>
        </p:txBody>
      </p:sp>
      <p:sp>
        <p:nvSpPr>
          <p:cNvPr id="7" name="Text 5"/>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6E6E6E"/>
                </a:solidFill>
                <a:latin typeface="Arial" pitchFamily="34" charset="0"/>
                <a:ea typeface="Arial" pitchFamily="34" charset="-122"/>
                <a:cs typeface="Arial" pitchFamily="34" charset="-120"/>
              </a:rPr>
              <a:t>AI Adoption Plan  |  Network Solutions  |  July 2026</a:t>
            </a:r>
            <a:endParaRPr lang="en-US" sz="900" dirty="0"/>
          </a:p>
        </p:txBody>
      </p:sp>
      <p:sp>
        <p:nvSpPr>
          <p:cNvPr id="8" name="Text 6"/>
          <p:cNvSpPr/>
          <p:nvPr/>
        </p:nvSpPr>
        <p:spPr>
          <a:xfrm>
            <a:off x="11430000" y="6473952"/>
            <a:ext cx="365760" cy="274320"/>
          </a:xfrm>
          <a:prstGeom prst="rect">
            <a:avLst/>
          </a:prstGeom>
          <a:noFill/>
          <a:ln/>
        </p:spPr>
        <p:txBody>
          <a:bodyPr wrap="square" lIns="0" tIns="0" rIns="0" bIns="0" rtlCol="0" anchor="ctr"/>
          <a:lstStyle/>
          <a:p>
            <a:pPr algn="r" indent="0" marL="0">
              <a:buNone/>
            </a:pPr>
            <a:r>
              <a:rPr lang="en-US" sz="900" dirty="0">
                <a:solidFill>
                  <a:srgbClr val="6E6E6E"/>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640080"/>
          </a:xfrm>
          <a:prstGeom prst="rect">
            <a:avLst/>
          </a:prstGeom>
          <a:noFill/>
          <a:ln/>
        </p:spPr>
        <p:txBody>
          <a:bodyPr wrap="square" lIns="0" tIns="0" rIns="0" bIns="0" rtlCol="0" anchor="ctr"/>
          <a:lstStyle/>
          <a:p>
            <a:pPr indent="0" marL="0">
              <a:buNone/>
            </a:pPr>
            <a:r>
              <a:rPr lang="en-US" sz="3000" b="1" dirty="0">
                <a:solidFill>
                  <a:srgbClr val="231F20"/>
                </a:solidFill>
                <a:latin typeface="Arial" pitchFamily="34" charset="0"/>
                <a:ea typeface="Arial" pitchFamily="34" charset="-122"/>
                <a:cs typeface="Arial" pitchFamily="34" charset="-120"/>
              </a:rPr>
              <a:t>Phase 3 and 4: Rollout and Governance</a:t>
            </a:r>
            <a:endParaRPr lang="en-US" sz="3000" dirty="0"/>
          </a:p>
        </p:txBody>
      </p:sp>
      <p:sp>
        <p:nvSpPr>
          <p:cNvPr id="3" name="Text 1"/>
          <p:cNvSpPr/>
          <p:nvPr/>
        </p:nvSpPr>
        <p:spPr>
          <a:xfrm>
            <a:off x="548640" y="1188720"/>
            <a:ext cx="5394960" cy="457200"/>
          </a:xfrm>
          <a:prstGeom prst="rect">
            <a:avLst/>
          </a:prstGeom>
          <a:noFill/>
          <a:ln/>
        </p:spPr>
        <p:txBody>
          <a:bodyPr wrap="square" lIns="0" tIns="0" rIns="0" bIns="0" rtlCol="0" anchor="ctr"/>
          <a:lstStyle/>
          <a:p>
            <a:pPr indent="0" marL="0">
              <a:buNone/>
            </a:pPr>
            <a:r>
              <a:rPr lang="en-US" sz="1700" b="1" dirty="0">
                <a:solidFill>
                  <a:srgbClr val="FF5F00"/>
                </a:solidFill>
                <a:latin typeface="Arial" pitchFamily="34" charset="0"/>
                <a:ea typeface="Arial" pitchFamily="34" charset="-122"/>
                <a:cs typeface="Arial" pitchFamily="34" charset="-120"/>
              </a:rPr>
              <a:t>Phase 3: Org-Wide Rollout</a:t>
            </a:r>
            <a:endParaRPr lang="en-US" sz="1700" dirty="0"/>
          </a:p>
        </p:txBody>
      </p:sp>
      <p:sp>
        <p:nvSpPr>
          <p:cNvPr id="4" name="Text 2"/>
          <p:cNvSpPr/>
          <p:nvPr/>
        </p:nvSpPr>
        <p:spPr>
          <a:xfrm>
            <a:off x="548640" y="1691640"/>
            <a:ext cx="5394960" cy="4206240"/>
          </a:xfrm>
          <a:prstGeom prst="rect">
            <a:avLst/>
          </a:prstGeom>
          <a:noFill/>
          <a:ln/>
        </p:spPr>
        <p:txBody>
          <a:bodyPr wrap="square" lIns="0" tIns="0" rIns="0" bIns="0" rtlCol="0" anchor="ctr"/>
          <a:lstStyle/>
          <a:p>
            <a:pPr marL="342900" indent="-342900">
              <a:spcAft>
                <a:spcPts val="900"/>
              </a:spcAft>
              <a:buSzPct val="100000"/>
              <a:buChar char="•"/>
            </a:pPr>
            <a:r>
              <a:rPr lang="en-US" sz="1350" dirty="0">
                <a:solidFill>
                  <a:srgbClr val="231F20"/>
                </a:solidFill>
                <a:latin typeface="Arial" pitchFamily="34" charset="0"/>
                <a:ea typeface="Arial" pitchFamily="34" charset="-122"/>
                <a:cs typeface="Arial" pitchFamily="34" charset="-120"/>
              </a:rPr>
              <a:t>Marketplace skill and tracker rolled out to all Network Solutions repos</a:t>
            </a:r>
            <a:endParaRPr lang="en-US" sz="1350" dirty="0"/>
          </a:p>
          <a:p>
            <a:pPr marL="342900" indent="-342900">
              <a:spcAft>
                <a:spcPts val="900"/>
              </a:spcAft>
              <a:buSzPct val="100000"/>
              <a:buChar char="•"/>
            </a:pPr>
            <a:r>
              <a:rPr lang="en-US" sz="1350" dirty="0">
                <a:solidFill>
                  <a:srgbClr val="231F20"/>
                </a:solidFill>
                <a:latin typeface="Arial" pitchFamily="34" charset="0"/>
                <a:ea typeface="Arial" pitchFamily="34" charset="-122"/>
                <a:cs typeface="Arial" pitchFamily="34" charset="-120"/>
              </a:rPr>
              <a:t>Lightweight onboarding guide: install steps, what gets tracked, what gates a merge</a:t>
            </a:r>
            <a:endParaRPr lang="en-US" sz="1350" dirty="0"/>
          </a:p>
          <a:p>
            <a:pPr marL="342900" indent="-342900">
              <a:spcAft>
                <a:spcPts val="900"/>
              </a:spcAft>
              <a:buSzPct val="100000"/>
              <a:buChar char="•"/>
            </a:pPr>
            <a:r>
              <a:rPr lang="en-US" sz="1350" dirty="0">
                <a:solidFill>
                  <a:srgbClr val="231F20"/>
                </a:solidFill>
                <a:latin typeface="Arial" pitchFamily="34" charset="0"/>
                <a:ea typeface="Arial" pitchFamily="34" charset="-122"/>
                <a:cs typeface="Arial" pitchFamily="34" charset="-120"/>
              </a:rPr>
              <a:t>Point of contact per team for first-line support instead of routing everything through the team</a:t>
            </a:r>
            <a:endParaRPr lang="en-US" sz="1350" dirty="0"/>
          </a:p>
          <a:p>
            <a:pPr marL="342900" indent="-342900">
              <a:spcAft>
                <a:spcPts val="900"/>
              </a:spcAft>
              <a:buSzPct val="100000"/>
              <a:buChar char="•"/>
            </a:pPr>
            <a:r>
              <a:rPr lang="en-US" sz="1350" dirty="0">
                <a:solidFill>
                  <a:srgbClr val="231F20"/>
                </a:solidFill>
                <a:latin typeface="Arial" pitchFamily="34" charset="0"/>
                <a:ea typeface="Arial" pitchFamily="34" charset="-122"/>
                <a:cs typeface="Arial" pitchFamily="34" charset="-120"/>
              </a:rPr>
              <a:t>Presentation to the payments group, per the champions' direction, as the step beyond Network Solutions</a:t>
            </a:r>
            <a:endParaRPr lang="en-US" sz="1350" dirty="0"/>
          </a:p>
        </p:txBody>
      </p:sp>
      <p:sp>
        <p:nvSpPr>
          <p:cNvPr id="5" name="Text 3"/>
          <p:cNvSpPr/>
          <p:nvPr/>
        </p:nvSpPr>
        <p:spPr>
          <a:xfrm>
            <a:off x="6309360" y="1188720"/>
            <a:ext cx="5303520" cy="457200"/>
          </a:xfrm>
          <a:prstGeom prst="rect">
            <a:avLst/>
          </a:prstGeom>
          <a:noFill/>
          <a:ln/>
        </p:spPr>
        <p:txBody>
          <a:bodyPr wrap="square" lIns="0" tIns="0" rIns="0" bIns="0" rtlCol="0" anchor="ctr"/>
          <a:lstStyle/>
          <a:p>
            <a:pPr indent="0" marL="0">
              <a:buNone/>
            </a:pPr>
            <a:r>
              <a:rPr lang="en-US" sz="1700" b="1" dirty="0">
                <a:solidFill>
                  <a:srgbClr val="231F20"/>
                </a:solidFill>
                <a:latin typeface="Arial" pitchFamily="34" charset="0"/>
                <a:ea typeface="Arial" pitchFamily="34" charset="-122"/>
                <a:cs typeface="Arial" pitchFamily="34" charset="-120"/>
              </a:rPr>
              <a:t>Phase 4: Governance and Reporting (ongoing)</a:t>
            </a:r>
            <a:endParaRPr lang="en-US" sz="1700" dirty="0"/>
          </a:p>
        </p:txBody>
      </p:sp>
      <p:sp>
        <p:nvSpPr>
          <p:cNvPr id="6" name="Text 4"/>
          <p:cNvSpPr/>
          <p:nvPr/>
        </p:nvSpPr>
        <p:spPr>
          <a:xfrm>
            <a:off x="6309360" y="1691640"/>
            <a:ext cx="5303520" cy="4206240"/>
          </a:xfrm>
          <a:prstGeom prst="rect">
            <a:avLst/>
          </a:prstGeom>
          <a:noFill/>
          <a:ln/>
        </p:spPr>
        <p:txBody>
          <a:bodyPr wrap="square" lIns="0" tIns="0" rIns="0" bIns="0" rtlCol="0" anchor="ctr"/>
          <a:lstStyle/>
          <a:p>
            <a:pPr marL="342900" indent="-342900">
              <a:spcAft>
                <a:spcPts val="900"/>
              </a:spcAft>
              <a:buSzPct val="100000"/>
              <a:buChar char="•"/>
            </a:pPr>
            <a:r>
              <a:rPr lang="en-US" sz="1350" dirty="0">
                <a:solidFill>
                  <a:srgbClr val="231F20"/>
                </a:solidFill>
                <a:latin typeface="Arial" pitchFamily="34" charset="0"/>
                <a:ea typeface="Arial" pitchFamily="34" charset="-122"/>
                <a:cs typeface="Arial" pitchFamily="34" charset="-120"/>
              </a:rPr>
              <a:t>Standing usage report: adoption rate, PRs gated vs passed, time saved where measurable</a:t>
            </a:r>
            <a:endParaRPr lang="en-US" sz="1350" dirty="0"/>
          </a:p>
          <a:p>
            <a:pPr marL="342900" indent="-342900">
              <a:spcAft>
                <a:spcPts val="900"/>
              </a:spcAft>
              <a:buSzPct val="100000"/>
              <a:buChar char="•"/>
            </a:pPr>
            <a:r>
              <a:rPr lang="en-US" sz="1350" dirty="0">
                <a:solidFill>
                  <a:srgbClr val="231F20"/>
                </a:solidFill>
                <a:latin typeface="Arial" pitchFamily="34" charset="0"/>
                <a:ea typeface="Arial" pitchFamily="34" charset="-122"/>
                <a:cs typeface="Arial" pitchFamily="34" charset="-120"/>
              </a:rPr>
              <a:t>Pre/post AIDLC metrics dashboard as the primary evidence view, per repo and aggregated</a:t>
            </a:r>
            <a:endParaRPr lang="en-US" sz="1350" dirty="0"/>
          </a:p>
          <a:p>
            <a:pPr marL="342900" indent="-342900">
              <a:spcAft>
                <a:spcPts val="900"/>
              </a:spcAft>
              <a:buSzPct val="100000"/>
              <a:buChar char="•"/>
            </a:pPr>
            <a:r>
              <a:rPr lang="en-US" sz="1350" dirty="0">
                <a:solidFill>
                  <a:srgbClr val="231F20"/>
                </a:solidFill>
                <a:latin typeface="Arial" pitchFamily="34" charset="0"/>
                <a:ea typeface="Arial" pitchFamily="34" charset="-122"/>
                <a:cs typeface="Arial" pitchFamily="34" charset="-120"/>
              </a:rPr>
              <a:t>Quarterly review of what the tracker gates on, adjusted with false-positive/negative data</a:t>
            </a:r>
            <a:endParaRPr lang="en-US" sz="1350" dirty="0"/>
          </a:p>
          <a:p>
            <a:pPr marL="342900" indent="-342900">
              <a:spcAft>
                <a:spcPts val="900"/>
              </a:spcAft>
              <a:buSzPct val="100000"/>
              <a:buChar char="•"/>
            </a:pPr>
            <a:r>
              <a:rPr lang="en-US" sz="1350" dirty="0">
                <a:solidFill>
                  <a:srgbClr val="231F20"/>
                </a:solidFill>
                <a:latin typeface="Arial" pitchFamily="34" charset="0"/>
                <a:ea typeface="Arial" pitchFamily="34" charset="-122"/>
                <a:cs typeface="Arial" pitchFamily="34" charset="-120"/>
              </a:rPr>
              <a:t>Evolve toward the evidence-pack model: traceable evidence per AI-assisted change, review attention on exceptions and low scores</a:t>
            </a:r>
            <a:endParaRPr lang="en-US" sz="1350" dirty="0"/>
          </a:p>
          <a:p>
            <a:pPr marL="342900" indent="-342900">
              <a:spcAft>
                <a:spcPts val="900"/>
              </a:spcAft>
              <a:buSzPct val="100000"/>
              <a:buChar char="•"/>
            </a:pPr>
            <a:r>
              <a:rPr lang="en-US" sz="1350" dirty="0">
                <a:solidFill>
                  <a:srgbClr val="231F20"/>
                </a:solidFill>
                <a:latin typeface="Arial" pitchFamily="34" charset="0"/>
                <a:ea typeface="Arial" pitchFamily="34" charset="-122"/>
                <a:cs typeface="Arial" pitchFamily="34" charset="-120"/>
              </a:rPr>
              <a:t>Skill metadata per the policy mapping model: owner, version, approval status, allowed use cases, defect history</a:t>
            </a:r>
            <a:endParaRPr lang="en-US" sz="1350" dirty="0"/>
          </a:p>
        </p:txBody>
      </p:sp>
      <p:sp>
        <p:nvSpPr>
          <p:cNvPr id="7" name="Text 5"/>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6E6E6E"/>
                </a:solidFill>
                <a:latin typeface="Arial" pitchFamily="34" charset="0"/>
                <a:ea typeface="Arial" pitchFamily="34" charset="-122"/>
                <a:cs typeface="Arial" pitchFamily="34" charset="-120"/>
              </a:rPr>
              <a:t>AI Adoption Plan  |  Network Solutions  |  July 2026</a:t>
            </a:r>
            <a:endParaRPr lang="en-US" sz="900" dirty="0"/>
          </a:p>
        </p:txBody>
      </p:sp>
      <p:sp>
        <p:nvSpPr>
          <p:cNvPr id="8" name="Text 6"/>
          <p:cNvSpPr/>
          <p:nvPr/>
        </p:nvSpPr>
        <p:spPr>
          <a:xfrm>
            <a:off x="11430000" y="6473952"/>
            <a:ext cx="365760" cy="274320"/>
          </a:xfrm>
          <a:prstGeom prst="rect">
            <a:avLst/>
          </a:prstGeom>
          <a:noFill/>
          <a:ln/>
        </p:spPr>
        <p:txBody>
          <a:bodyPr wrap="square" lIns="0" tIns="0" rIns="0" bIns="0" rtlCol="0" anchor="ctr"/>
          <a:lstStyle/>
          <a:p>
            <a:pPr algn="r" indent="0" marL="0">
              <a:buNone/>
            </a:pPr>
            <a:r>
              <a:rPr lang="en-US" sz="900" dirty="0">
                <a:solidFill>
                  <a:srgbClr val="6E6E6E"/>
                </a:solidFill>
                <a:latin typeface="Arial" pitchFamily="34" charset="0"/>
                <a:ea typeface="Arial" pitchFamily="34" charset="-122"/>
                <a:cs typeface="Arial"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640080"/>
          </a:xfrm>
          <a:prstGeom prst="rect">
            <a:avLst/>
          </a:prstGeom>
          <a:noFill/>
          <a:ln/>
        </p:spPr>
        <p:txBody>
          <a:bodyPr wrap="square" lIns="0" tIns="0" rIns="0" bIns="0" rtlCol="0" anchor="ctr"/>
          <a:lstStyle/>
          <a:p>
            <a:pPr indent="0" marL="0">
              <a:buNone/>
            </a:pPr>
            <a:r>
              <a:rPr lang="en-US" sz="3000" b="1" dirty="0">
                <a:solidFill>
                  <a:srgbClr val="231F20"/>
                </a:solidFill>
                <a:latin typeface="Arial" pitchFamily="34" charset="0"/>
                <a:ea typeface="Arial" pitchFamily="34" charset="-122"/>
                <a:cs typeface="Arial" pitchFamily="34" charset="-120"/>
              </a:rPr>
              <a:t>Governance: AI Usage Tracking</a:t>
            </a:r>
            <a:endParaRPr lang="en-US" sz="3000" dirty="0"/>
          </a:p>
        </p:txBody>
      </p:sp>
      <p:sp>
        <p:nvSpPr>
          <p:cNvPr id="3" name="Text 1"/>
          <p:cNvSpPr/>
          <p:nvPr/>
        </p:nvSpPr>
        <p:spPr>
          <a:xfrm>
            <a:off x="548640" y="1143000"/>
            <a:ext cx="11064240" cy="457200"/>
          </a:xfrm>
          <a:prstGeom prst="rect">
            <a:avLst/>
          </a:prstGeom>
          <a:noFill/>
          <a:ln/>
        </p:spPr>
        <p:txBody>
          <a:bodyPr wrap="square" lIns="0" tIns="0" rIns="0" bIns="0" rtlCol="0" anchor="ctr"/>
          <a:lstStyle/>
          <a:p>
            <a:pPr indent="0" marL="0">
              <a:buNone/>
            </a:pPr>
            <a:r>
              <a:rPr lang="en-US" sz="1600" i="1" dirty="0">
                <a:solidFill>
                  <a:srgbClr val="6E6E6E"/>
                </a:solidFill>
                <a:latin typeface="Arial" pitchFamily="34" charset="0"/>
                <a:ea typeface="Arial" pitchFamily="34" charset="-122"/>
                <a:cs typeface="Arial" pitchFamily="34" charset="-120"/>
              </a:rPr>
              <a:t>The gating system is the core of this plan's credibility. Without it, AI adoption is anecdote.</a:t>
            </a:r>
            <a:endParaRPr lang="en-US" sz="1600" dirty="0"/>
          </a:p>
        </p:txBody>
      </p:sp>
      <p:sp>
        <p:nvSpPr>
          <p:cNvPr id="4" name="Text 2"/>
          <p:cNvSpPr/>
          <p:nvPr/>
        </p:nvSpPr>
        <p:spPr>
          <a:xfrm>
            <a:off x="548640" y="1783080"/>
            <a:ext cx="11064240" cy="2834640"/>
          </a:xfrm>
          <a:prstGeom prst="rect">
            <a:avLst/>
          </a:prstGeom>
          <a:noFill/>
          <a:ln/>
        </p:spPr>
        <p:txBody>
          <a:bodyPr wrap="square" lIns="0" tIns="0" rIns="0" bIns="0" rtlCol="0" anchor="ctr"/>
          <a:lstStyle/>
          <a:p>
            <a:pPr marL="342900" indent="-342900">
              <a:spcAft>
                <a:spcPts val="1100"/>
              </a:spcAft>
              <a:buSzPct val="100000"/>
              <a:buChar char="•"/>
            </a:pPr>
            <a:r>
              <a:rPr lang="en-US" sz="1500" dirty="0">
                <a:solidFill>
                  <a:srgbClr val="231F20"/>
                </a:solidFill>
                <a:latin typeface="Arial" pitchFamily="34" charset="0"/>
                <a:ea typeface="Arial" pitchFamily="34" charset="-122"/>
                <a:cs typeface="Arial" pitchFamily="34" charset="-120"/>
              </a:rPr>
              <a:t>Every PR is tagged with whether AI assistance was used and what type (generation, review, both)</a:t>
            </a:r>
            <a:endParaRPr lang="en-US" sz="1500" dirty="0"/>
          </a:p>
          <a:p>
            <a:pPr marL="342900" indent="-342900">
              <a:spcAft>
                <a:spcPts val="1100"/>
              </a:spcAft>
              <a:buSzPct val="100000"/>
              <a:buChar char="•"/>
            </a:pPr>
            <a:r>
              <a:rPr lang="en-US" sz="1500" dirty="0">
                <a:solidFill>
                  <a:srgbClr val="231F20"/>
                </a:solidFill>
                <a:latin typeface="Arial" pitchFamily="34" charset="0"/>
                <a:ea typeface="Arial" pitchFamily="34" charset="-122"/>
                <a:cs typeface="Arial" pitchFamily="34" charset="-120"/>
              </a:rPr>
              <a:t>Merge gates enforce the same or stricter review scrutiny on AI-assisted PRs, never less</a:t>
            </a:r>
            <a:endParaRPr lang="en-US" sz="1500" dirty="0"/>
          </a:p>
          <a:p>
            <a:pPr marL="342900" indent="-342900">
              <a:spcAft>
                <a:spcPts val="1100"/>
              </a:spcAft>
              <a:buSzPct val="100000"/>
              <a:buChar char="•"/>
            </a:pPr>
            <a:r>
              <a:rPr lang="en-US" sz="1500" dirty="0">
                <a:solidFill>
                  <a:srgbClr val="231F20"/>
                </a:solidFill>
                <a:latin typeface="Arial" pitchFamily="34" charset="0"/>
                <a:ea typeface="Arial" pitchFamily="34" charset="-122"/>
                <a:cs typeface="Arial" pitchFamily="34" charset="-120"/>
              </a:rPr>
              <a:t>Aggregated data becomes the evidence base for scaling decisions and leadership reporting, not self-reported adoption</a:t>
            </a:r>
            <a:endParaRPr lang="en-US" sz="1500" dirty="0"/>
          </a:p>
          <a:p>
            <a:pPr marL="342900" indent="-342900">
              <a:spcAft>
                <a:spcPts val="1100"/>
              </a:spcAft>
              <a:buSzPct val="100000"/>
              <a:buChar char="•"/>
            </a:pPr>
            <a:r>
              <a:rPr lang="en-US" sz="1500" dirty="0">
                <a:solidFill>
                  <a:srgbClr val="231F20"/>
                </a:solidFill>
                <a:latin typeface="Arial" pitchFamily="34" charset="0"/>
                <a:ea typeface="Arial" pitchFamily="34" charset="-122"/>
                <a:cs typeface="Arial" pitchFamily="34" charset="-120"/>
              </a:rPr>
              <a:t>The tracker is also the calibration mechanism the governance framework needs: gate outcomes correlated with production defect escapes, so thresholds are validated against reality rather than asserted</a:t>
            </a:r>
            <a:endParaRPr lang="en-US" sz="1500" dirty="0"/>
          </a:p>
        </p:txBody>
      </p:sp>
      <p:sp>
        <p:nvSpPr>
          <p:cNvPr id="5" name="Shape 3"/>
          <p:cNvSpPr/>
          <p:nvPr/>
        </p:nvSpPr>
        <p:spPr>
          <a:xfrm>
            <a:off x="548640" y="4800600"/>
            <a:ext cx="11064240" cy="1234440"/>
          </a:xfrm>
          <a:prstGeom prst="roundRect">
            <a:avLst>
              <a:gd name="adj" fmla="val 5926"/>
            </a:avLst>
          </a:prstGeom>
          <a:solidFill>
            <a:srgbClr val="F5F5F5"/>
          </a:solidFill>
          <a:ln/>
        </p:spPr>
      </p:sp>
      <p:sp>
        <p:nvSpPr>
          <p:cNvPr id="6" name="Text 4"/>
          <p:cNvSpPr/>
          <p:nvPr/>
        </p:nvSpPr>
        <p:spPr>
          <a:xfrm>
            <a:off x="822960" y="4983480"/>
            <a:ext cx="10515600" cy="868680"/>
          </a:xfrm>
          <a:prstGeom prst="rect">
            <a:avLst/>
          </a:prstGeom>
          <a:noFill/>
          <a:ln/>
        </p:spPr>
        <p:txBody>
          <a:bodyPr wrap="square" lIns="0" tIns="0" rIns="0" bIns="0" rtlCol="0" anchor="ctr"/>
          <a:lstStyle/>
          <a:p>
            <a:pPr indent="0" marL="0">
              <a:lnSpc>
                <a:spcPct val="120000"/>
              </a:lnSpc>
              <a:buNone/>
            </a:pPr>
            <a:r>
              <a:rPr lang="en-US" sz="1400" b="1" dirty="0">
                <a:solidFill>
                  <a:srgbClr val="FF5F00"/>
                </a:solidFill>
                <a:latin typeface="Arial" pitchFamily="34" charset="0"/>
                <a:ea typeface="Arial" pitchFamily="34" charset="-122"/>
                <a:cs typeface="Arial" pitchFamily="34" charset="-120"/>
              </a:rPr>
              <a:t>MCP governance: </a:t>
            </a:r>
            <a:pPr indent="0" marL="0">
              <a:lnSpc>
                <a:spcPct val="120000"/>
              </a:lnSpc>
              <a:buNone/>
            </a:pPr>
            <a:r>
              <a:rPr lang="en-US" sz="1400" dirty="0">
                <a:solidFill>
                  <a:srgbClr val="231F20"/>
                </a:solidFill>
                <a:latin typeface="Arial" pitchFamily="34" charset="0"/>
                <a:ea typeface="Arial" pitchFamily="34" charset="-122"/>
                <a:cs typeface="Arial" pitchFamily="34" charset="-120"/>
              </a:rPr>
              <a:t>a maintained inventory of MCP servers in use (currently Atlassian for Jira and Confluence), including deployment source, auth model, and write scopes, reviewed before any new server is adopted.</a:t>
            </a:r>
            <a:endParaRPr lang="en-US" sz="1400" dirty="0"/>
          </a:p>
        </p:txBody>
      </p:sp>
      <p:sp>
        <p:nvSpPr>
          <p:cNvPr id="7" name="Text 5"/>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6E6E6E"/>
                </a:solidFill>
                <a:latin typeface="Arial" pitchFamily="34" charset="0"/>
                <a:ea typeface="Arial" pitchFamily="34" charset="-122"/>
                <a:cs typeface="Arial" pitchFamily="34" charset="-120"/>
              </a:rPr>
              <a:t>AI Adoption Plan  |  Network Solutions  |  July 2026</a:t>
            </a:r>
            <a:endParaRPr lang="en-US" sz="900" dirty="0"/>
          </a:p>
        </p:txBody>
      </p:sp>
      <p:sp>
        <p:nvSpPr>
          <p:cNvPr id="8" name="Text 6"/>
          <p:cNvSpPr/>
          <p:nvPr/>
        </p:nvSpPr>
        <p:spPr>
          <a:xfrm>
            <a:off x="11430000" y="6473952"/>
            <a:ext cx="365760" cy="274320"/>
          </a:xfrm>
          <a:prstGeom prst="rect">
            <a:avLst/>
          </a:prstGeom>
          <a:noFill/>
          <a:ln/>
        </p:spPr>
        <p:txBody>
          <a:bodyPr wrap="square" lIns="0" tIns="0" rIns="0" bIns="0" rtlCol="0" anchor="ctr"/>
          <a:lstStyle/>
          <a:p>
            <a:pPr algn="r" indent="0" marL="0">
              <a:buNone/>
            </a:pPr>
            <a:r>
              <a:rPr lang="en-US" sz="900" dirty="0">
                <a:solidFill>
                  <a:srgbClr val="6E6E6E"/>
                </a:solidFill>
                <a:latin typeface="Arial" pitchFamily="34" charset="0"/>
                <a:ea typeface="Arial" pitchFamily="34" charset="-122"/>
                <a:cs typeface="Arial"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640080"/>
          </a:xfrm>
          <a:prstGeom prst="rect">
            <a:avLst/>
          </a:prstGeom>
          <a:noFill/>
          <a:ln/>
        </p:spPr>
        <p:txBody>
          <a:bodyPr wrap="square" lIns="0" tIns="0" rIns="0" bIns="0" rtlCol="0" anchor="ctr"/>
          <a:lstStyle/>
          <a:p>
            <a:pPr indent="0" marL="0">
              <a:buNone/>
            </a:pPr>
            <a:r>
              <a:rPr lang="en-US" sz="3000" b="1" dirty="0">
                <a:solidFill>
                  <a:srgbClr val="231F20"/>
                </a:solidFill>
                <a:latin typeface="Arial" pitchFamily="34" charset="0"/>
                <a:ea typeface="Arial" pitchFamily="34" charset="-122"/>
                <a:cs typeface="Arial" pitchFamily="34" charset="-120"/>
              </a:rPr>
              <a:t>Risks and Mitigations</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64240" cy="914400"/>
        </p:xfrm>
        <a:graphic>
          <a:graphicData uri="http://schemas.openxmlformats.org/drawingml/2006/table">
            <a:tbl>
              <a:tblPr/>
              <a:tblGrid>
                <a:gridCol w="3840480"/>
                <a:gridCol w="7223760"/>
              </a:tblGrid>
              <a:tr h="658368">
                <a:tc>
                  <a:txBody>
                    <a:bodyPr/>
                    <a:lstStyle/>
                    <a:p>
                      <a:pPr indent="0" marL="0">
                        <a:buNone/>
                      </a:pPr>
                      <a:r>
                        <a:rPr lang="en-US" sz="1400" b="1" dirty="0">
                          <a:solidFill>
                            <a:srgbClr val="FFFFFF"/>
                          </a:solidFill>
                          <a:latin typeface="Arial" pitchFamily="34" charset="0"/>
                          <a:ea typeface="Arial" pitchFamily="34" charset="-122"/>
                          <a:cs typeface="Arial" pitchFamily="34" charset="-120"/>
                        </a:rPr>
                        <a:t>Risk</a:t>
                      </a:r>
                      <a:endParaRPr lang="en-US" sz="1400" dirty="0">
                        <a:latin typeface="Arial" charset="0"/>
                        <a:ea typeface="Arial" charset="0"/>
                        <a:cs typeface="Arial" charset="0"/>
                      </a:endParaRPr>
                    </a:p>
                  </a:txBody>
                  <a:tcPr marL="73152" marR="73152"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231F20"/>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Mitigation</a:t>
                      </a:r>
                      <a:endParaRPr lang="en-US" sz="1400" dirty="0">
                        <a:latin typeface="Arial" charset="0"/>
                        <a:ea typeface="Arial" charset="0"/>
                        <a:cs typeface="Arial" charset="0"/>
                      </a:endParaRPr>
                    </a:p>
                  </a:txBody>
                  <a:tcPr marL="73152" marR="73152"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231F20"/>
                    </a:solidFill>
                  </a:tcPr>
                </a:tc>
              </a:tr>
              <a:tr h="658368">
                <a:tc>
                  <a:txBody>
                    <a:bodyPr/>
                    <a:lstStyle/>
                    <a:p>
                      <a:pPr indent="0" marL="0">
                        <a:buNone/>
                      </a:pPr>
                      <a:r>
                        <a:rPr lang="en-US" sz="1250" dirty="0">
                          <a:solidFill>
                            <a:srgbClr val="231F20"/>
                          </a:solidFill>
                          <a:latin typeface="Arial" pitchFamily="34" charset="0"/>
                          <a:ea typeface="Arial" pitchFamily="34" charset="-122"/>
                          <a:cs typeface="Arial" pitchFamily="34" charset="-120"/>
                        </a:rPr>
                        <a:t>Teams resist a system built by another team</a:t>
                      </a:r>
                      <a:endParaRPr lang="en-US" sz="1250" dirty="0">
                        <a:latin typeface="Arial" charset="0"/>
                        <a:ea typeface="Arial" charset="0"/>
                        <a:cs typeface="Arial" charset="0"/>
                      </a:endParaRPr>
                    </a:p>
                  </a:txBody>
                  <a:tcPr marL="73152" marR="73152"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50" dirty="0">
                          <a:solidFill>
                            <a:srgbClr val="231F20"/>
                          </a:solidFill>
                          <a:latin typeface="Arial" pitchFamily="34" charset="0"/>
                          <a:ea typeface="Arial" pitchFamily="34" charset="-122"/>
                          <a:cs typeface="Arial" pitchFamily="34" charset="-120"/>
                        </a:rPr>
                        <a:t>COB positioned as the pilot product, not the owner; ownership moves to the shared skills repo (owned by Maveric Xhang) with named maintainers once merged</a:t>
                      </a:r>
                      <a:endParaRPr lang="en-US" sz="1250" dirty="0">
                        <a:latin typeface="Arial" charset="0"/>
                        <a:ea typeface="Arial" charset="0"/>
                        <a:cs typeface="Arial" charset="0"/>
                      </a:endParaRPr>
                    </a:p>
                  </a:txBody>
                  <a:tcPr marL="73152" marR="73152"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658368">
                <a:tc>
                  <a:txBody>
                    <a:bodyPr/>
                    <a:lstStyle/>
                    <a:p>
                      <a:pPr indent="0" marL="0">
                        <a:buNone/>
                      </a:pPr>
                      <a:r>
                        <a:rPr lang="en-US" sz="1250" dirty="0">
                          <a:solidFill>
                            <a:srgbClr val="231F20"/>
                          </a:solidFill>
                          <a:latin typeface="Arial" pitchFamily="34" charset="0"/>
                          <a:ea typeface="Arial" pitchFamily="34" charset="-122"/>
                          <a:cs typeface="Arial" pitchFamily="34" charset="-120"/>
                        </a:rPr>
                        <a:t>Duplication with the Treasury Services POC undermines both efforts</a:t>
                      </a:r>
                      <a:endParaRPr lang="en-US" sz="1250" dirty="0">
                        <a:latin typeface="Arial" charset="0"/>
                        <a:ea typeface="Arial" charset="0"/>
                        <a:cs typeface="Arial" charset="0"/>
                      </a:endParaRPr>
                    </a:p>
                  </a:txBody>
                  <a:tcPr marL="73152" marR="73152"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50" dirty="0">
                          <a:solidFill>
                            <a:srgbClr val="231F20"/>
                          </a:solidFill>
                          <a:latin typeface="Arial" pitchFamily="34" charset="0"/>
                          <a:ea typeface="Arial" pitchFamily="34" charset="-122"/>
                          <a:cs typeface="Arial" pitchFamily="34" charset="-120"/>
                        </a:rPr>
                        <a:t>Convergence is mandated by the AI champions; single approach agreed in Phase 1 before wider distribution</a:t>
                      </a:r>
                      <a:endParaRPr lang="en-US" sz="1250" dirty="0">
                        <a:latin typeface="Arial" charset="0"/>
                        <a:ea typeface="Arial" charset="0"/>
                        <a:cs typeface="Arial" charset="0"/>
                      </a:endParaRPr>
                    </a:p>
                  </a:txBody>
                  <a:tcPr marL="73152" marR="73152"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658368">
                <a:tc>
                  <a:txBody>
                    <a:bodyPr/>
                    <a:lstStyle/>
                    <a:p>
                      <a:pPr indent="0" marL="0">
                        <a:buNone/>
                      </a:pPr>
                      <a:r>
                        <a:rPr lang="en-US" sz="1250" dirty="0">
                          <a:solidFill>
                            <a:srgbClr val="231F20"/>
                          </a:solidFill>
                          <a:latin typeface="Arial" pitchFamily="34" charset="0"/>
                          <a:ea typeface="Arial" pitchFamily="34" charset="-122"/>
                          <a:cs typeface="Arial" pitchFamily="34" charset="-120"/>
                        </a:rPr>
                        <a:t>Gating creates PR friction and gets bypassed</a:t>
                      </a:r>
                      <a:endParaRPr lang="en-US" sz="1250" dirty="0">
                        <a:latin typeface="Arial" charset="0"/>
                        <a:ea typeface="Arial" charset="0"/>
                        <a:cs typeface="Arial" charset="0"/>
                      </a:endParaRPr>
                    </a:p>
                  </a:txBody>
                  <a:tcPr marL="73152" marR="73152"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50" dirty="0">
                          <a:solidFill>
                            <a:srgbClr val="231F20"/>
                          </a:solidFill>
                          <a:latin typeface="Arial" pitchFamily="34" charset="0"/>
                          <a:ea typeface="Arial" pitchFamily="34" charset="-122"/>
                          <a:cs typeface="Arial" pitchFamily="34" charset="-120"/>
                        </a:rPr>
                        <a:t>Soft gates (warnings) in Phase 2; hard gates only after the false-positive rate is low</a:t>
                      </a:r>
                      <a:endParaRPr lang="en-US" sz="1250" dirty="0">
                        <a:latin typeface="Arial" charset="0"/>
                        <a:ea typeface="Arial" charset="0"/>
                        <a:cs typeface="Arial" charset="0"/>
                      </a:endParaRPr>
                    </a:p>
                  </a:txBody>
                  <a:tcPr marL="73152" marR="73152"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658368">
                <a:tc>
                  <a:txBody>
                    <a:bodyPr/>
                    <a:lstStyle/>
                    <a:p>
                      <a:pPr indent="0" marL="0">
                        <a:buNone/>
                      </a:pPr>
                      <a:r>
                        <a:rPr lang="en-US" sz="1250" dirty="0">
                          <a:solidFill>
                            <a:srgbClr val="231F20"/>
                          </a:solidFill>
                          <a:latin typeface="Arial" pitchFamily="34" charset="0"/>
                          <a:ea typeface="Arial" pitchFamily="34" charset="-122"/>
                          <a:cs typeface="Arial" pitchFamily="34" charset="-120"/>
                        </a:rPr>
                        <a:t>No time allocated by other teams to onboard</a:t>
                      </a:r>
                      <a:endParaRPr lang="en-US" sz="1250" dirty="0">
                        <a:latin typeface="Arial" charset="0"/>
                        <a:ea typeface="Arial" charset="0"/>
                        <a:cs typeface="Arial" charset="0"/>
                      </a:endParaRPr>
                    </a:p>
                  </a:txBody>
                  <a:tcPr marL="73152" marR="73152"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50" dirty="0">
                          <a:solidFill>
                            <a:srgbClr val="231F20"/>
                          </a:solidFill>
                          <a:latin typeface="Arial" pitchFamily="34" charset="0"/>
                          <a:ea typeface="Arial" pitchFamily="34" charset="-122"/>
                          <a:cs typeface="Arial" pitchFamily="34" charset="-120"/>
                        </a:rPr>
                        <a:t>Explicit sponsor backing (Shrikant, with Sanjay/Sanjeev) before Phase 2 starts, not after</a:t>
                      </a:r>
                      <a:endParaRPr lang="en-US" sz="1250" dirty="0">
                        <a:latin typeface="Arial" charset="0"/>
                        <a:ea typeface="Arial" charset="0"/>
                        <a:cs typeface="Arial" charset="0"/>
                      </a:endParaRPr>
                    </a:p>
                  </a:txBody>
                  <a:tcPr marL="73152" marR="73152"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658368">
                <a:tc>
                  <a:txBody>
                    <a:bodyPr/>
                    <a:lstStyle/>
                    <a:p>
                      <a:pPr indent="0" marL="0">
                        <a:buNone/>
                      </a:pPr>
                      <a:r>
                        <a:rPr lang="en-US" sz="1250" dirty="0">
                          <a:solidFill>
                            <a:srgbClr val="231F20"/>
                          </a:solidFill>
                          <a:latin typeface="Arial" pitchFamily="34" charset="0"/>
                          <a:ea typeface="Arial" pitchFamily="34" charset="-122"/>
                          <a:cs typeface="Arial" pitchFamily="34" charset="-120"/>
                        </a:rPr>
                        <a:t>Usage data reveals uneven or low adoption</a:t>
                      </a:r>
                      <a:endParaRPr lang="en-US" sz="1250" dirty="0">
                        <a:latin typeface="Arial" charset="0"/>
                        <a:ea typeface="Arial" charset="0"/>
                        <a:cs typeface="Arial" charset="0"/>
                      </a:endParaRPr>
                    </a:p>
                  </a:txBody>
                  <a:tcPr marL="73152" marR="73152"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50" dirty="0">
                          <a:solidFill>
                            <a:srgbClr val="231F20"/>
                          </a:solidFill>
                          <a:latin typeface="Arial" pitchFamily="34" charset="0"/>
                          <a:ea typeface="Arial" pitchFamily="34" charset="-122"/>
                          <a:cs typeface="Arial" pitchFamily="34" charset="-120"/>
                        </a:rPr>
                        <a:t>Report it honestly; uneven adoption is itself useful data for where support is needed</a:t>
                      </a:r>
                      <a:endParaRPr lang="en-US" sz="1250" dirty="0">
                        <a:latin typeface="Arial" charset="0"/>
                        <a:ea typeface="Arial" charset="0"/>
                        <a:cs typeface="Arial" charset="0"/>
                      </a:endParaRPr>
                    </a:p>
                  </a:txBody>
                  <a:tcPr marL="73152" marR="73152"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658368">
                <a:tc>
                  <a:txBody>
                    <a:bodyPr/>
                    <a:lstStyle/>
                    <a:p>
                      <a:pPr indent="0" marL="0">
                        <a:buNone/>
                      </a:pPr>
                      <a:r>
                        <a:rPr lang="en-US" sz="1250" dirty="0">
                          <a:solidFill>
                            <a:srgbClr val="231F20"/>
                          </a:solidFill>
                          <a:latin typeface="Arial" pitchFamily="34" charset="0"/>
                          <a:ea typeface="Arial" pitchFamily="34" charset="-122"/>
                          <a:cs typeface="Arial" pitchFamily="34" charset="-120"/>
                        </a:rPr>
                        <a:t>Scores and gates drift into compliance theater</a:t>
                      </a:r>
                      <a:endParaRPr lang="en-US" sz="1250" dirty="0">
                        <a:latin typeface="Arial" charset="0"/>
                        <a:ea typeface="Arial" charset="0"/>
                        <a:cs typeface="Arial" charset="0"/>
                      </a:endParaRPr>
                    </a:p>
                  </a:txBody>
                  <a:tcPr marL="73152" marR="73152"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50" dirty="0">
                          <a:solidFill>
                            <a:srgbClr val="231F20"/>
                          </a:solidFill>
                          <a:latin typeface="Arial" pitchFamily="34" charset="0"/>
                          <a:ea typeface="Arial" pitchFamily="34" charset="-122"/>
                          <a:cs typeface="Arial" pitchFamily="34" charset="-120"/>
                        </a:rPr>
                        <a:t>Thresholds tied to production outcome data via the tracker; scores kept explainable in the PR</a:t>
                      </a:r>
                      <a:endParaRPr lang="en-US" sz="1250" dirty="0">
                        <a:latin typeface="Arial" charset="0"/>
                        <a:ea typeface="Arial" charset="0"/>
                        <a:cs typeface="Arial" charset="0"/>
                      </a:endParaRPr>
                    </a:p>
                  </a:txBody>
                  <a:tcPr marL="73152" marR="73152"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bl>
          </a:graphicData>
        </a:graphic>
      </p:graphicFrame>
      <p:sp>
        <p:nvSpPr>
          <p:cNvPr id="4" name="Text 1"/>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6E6E6E"/>
                </a:solidFill>
                <a:latin typeface="Arial" pitchFamily="34" charset="0"/>
                <a:ea typeface="Arial" pitchFamily="34" charset="-122"/>
                <a:cs typeface="Arial" pitchFamily="34" charset="-120"/>
              </a:rPr>
              <a:t>AI Adoption Plan  |  Network Solutions  |  July 2026</a:t>
            </a:r>
            <a:endParaRPr lang="en-US" sz="900" dirty="0"/>
          </a:p>
        </p:txBody>
      </p:sp>
      <p:sp>
        <p:nvSpPr>
          <p:cNvPr id="5" name="Text 2"/>
          <p:cNvSpPr/>
          <p:nvPr/>
        </p:nvSpPr>
        <p:spPr>
          <a:xfrm>
            <a:off x="11430000" y="6473952"/>
            <a:ext cx="365760" cy="274320"/>
          </a:xfrm>
          <a:prstGeom prst="rect">
            <a:avLst/>
          </a:prstGeom>
          <a:noFill/>
          <a:ln/>
        </p:spPr>
        <p:txBody>
          <a:bodyPr wrap="square" lIns="0" tIns="0" rIns="0" bIns="0" rtlCol="0" anchor="ctr"/>
          <a:lstStyle/>
          <a:p>
            <a:pPr algn="r" indent="0" marL="0">
              <a:buNone/>
            </a:pPr>
            <a:r>
              <a:rPr lang="en-US" sz="900" dirty="0">
                <a:solidFill>
                  <a:srgbClr val="6E6E6E"/>
                </a:solidFill>
                <a:latin typeface="Arial" pitchFamily="34" charset="0"/>
                <a:ea typeface="Arial" pitchFamily="34" charset="-122"/>
                <a:cs typeface="Arial"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640080"/>
          </a:xfrm>
          <a:prstGeom prst="rect">
            <a:avLst/>
          </a:prstGeom>
          <a:noFill/>
          <a:ln/>
        </p:spPr>
        <p:txBody>
          <a:bodyPr wrap="square" lIns="0" tIns="0" rIns="0" bIns="0" rtlCol="0" anchor="ctr"/>
          <a:lstStyle/>
          <a:p>
            <a:pPr indent="0" marL="0">
              <a:buNone/>
            </a:pPr>
            <a:r>
              <a:rPr lang="en-US" sz="3000" b="1" dirty="0">
                <a:solidFill>
                  <a:srgbClr val="231F20"/>
                </a:solidFill>
                <a:latin typeface="Arial" pitchFamily="34" charset="0"/>
                <a:ea typeface="Arial" pitchFamily="34" charset="-122"/>
                <a:cs typeface="Arial" pitchFamily="34" charset="-120"/>
              </a:rPr>
              <a:t>Success Metrics and Timeline</a:t>
            </a:r>
            <a:endParaRPr lang="en-US" sz="3000" dirty="0"/>
          </a:p>
        </p:txBody>
      </p:sp>
      <p:sp>
        <p:nvSpPr>
          <p:cNvPr id="3" name="Text 1"/>
          <p:cNvSpPr/>
          <p:nvPr/>
        </p:nvSpPr>
        <p:spPr>
          <a:xfrm>
            <a:off x="548640" y="1188720"/>
            <a:ext cx="5394960" cy="411480"/>
          </a:xfrm>
          <a:prstGeom prst="rect">
            <a:avLst/>
          </a:prstGeom>
          <a:noFill/>
          <a:ln/>
        </p:spPr>
        <p:txBody>
          <a:bodyPr wrap="square" lIns="0" tIns="0" rIns="0" bIns="0" rtlCol="0" anchor="ctr"/>
          <a:lstStyle/>
          <a:p>
            <a:pPr indent="0" marL="0">
              <a:buNone/>
            </a:pPr>
            <a:r>
              <a:rPr lang="en-US" sz="1700" b="1" dirty="0">
                <a:solidFill>
                  <a:srgbClr val="FF5F00"/>
                </a:solidFill>
                <a:latin typeface="Arial" pitchFamily="34" charset="0"/>
                <a:ea typeface="Arial" pitchFamily="34" charset="-122"/>
                <a:cs typeface="Arial" pitchFamily="34" charset="-120"/>
              </a:rPr>
              <a:t>Success metrics</a:t>
            </a:r>
            <a:endParaRPr lang="en-US" sz="1700" dirty="0"/>
          </a:p>
        </p:txBody>
      </p:sp>
      <p:sp>
        <p:nvSpPr>
          <p:cNvPr id="4" name="Text 2"/>
          <p:cNvSpPr/>
          <p:nvPr/>
        </p:nvSpPr>
        <p:spPr>
          <a:xfrm>
            <a:off x="548640" y="1691640"/>
            <a:ext cx="5394960" cy="3108960"/>
          </a:xfrm>
          <a:prstGeom prst="rect">
            <a:avLst/>
          </a:prstGeom>
          <a:noFill/>
          <a:ln/>
        </p:spPr>
        <p:txBody>
          <a:bodyPr wrap="square" lIns="0" tIns="0" rIns="0" bIns="0" rtlCol="0" anchor="ctr"/>
          <a:lstStyle/>
          <a:p>
            <a:pPr marL="342900" indent="-342900">
              <a:spcAft>
                <a:spcPts val="900"/>
              </a:spcAft>
              <a:buSzPct val="100000"/>
              <a:buChar char="•"/>
            </a:pPr>
            <a:r>
              <a:rPr lang="en-US" sz="1350" dirty="0">
                <a:solidFill>
                  <a:srgbClr val="231F20"/>
                </a:solidFill>
                <a:latin typeface="Arial" pitchFamily="34" charset="0"/>
                <a:ea typeface="Arial" pitchFamily="34" charset="-122"/>
                <a:cs typeface="Arial" pitchFamily="34" charset="-120"/>
              </a:rPr>
              <a:t>Network Solutions repos with the tracker and PR review skill installed</a:t>
            </a:r>
            <a:endParaRPr lang="en-US" sz="1350" dirty="0"/>
          </a:p>
          <a:p>
            <a:pPr marL="342900" indent="-342900">
              <a:spcAft>
                <a:spcPts val="900"/>
              </a:spcAft>
              <a:buSzPct val="100000"/>
              <a:buChar char="•"/>
            </a:pPr>
            <a:r>
              <a:rPr lang="en-US" sz="1350" dirty="0">
                <a:solidFill>
                  <a:srgbClr val="231F20"/>
                </a:solidFill>
                <a:latin typeface="Arial" pitchFamily="34" charset="0"/>
                <a:ea typeface="Arial" pitchFamily="34" charset="-122"/>
                <a:cs typeface="Arial" pitchFamily="34" charset="-120"/>
              </a:rPr>
              <a:t>% of PRs tagged with AI usage data across those repos</a:t>
            </a:r>
            <a:endParaRPr lang="en-US" sz="1350" dirty="0"/>
          </a:p>
          <a:p>
            <a:pPr marL="342900" indent="-342900">
              <a:spcAft>
                <a:spcPts val="900"/>
              </a:spcAft>
              <a:buSzPct val="100000"/>
              <a:buChar char="•"/>
            </a:pPr>
            <a:r>
              <a:rPr lang="en-US" sz="1350" dirty="0">
                <a:solidFill>
                  <a:srgbClr val="231F20"/>
                </a:solidFill>
                <a:latin typeface="Arial" pitchFamily="34" charset="0"/>
                <a:ea typeface="Arial" pitchFamily="34" charset="-122"/>
                <a:cs typeface="Arial" pitchFamily="34" charset="-120"/>
              </a:rPr>
              <a:t>Reduction in review cycle time on AI-assisted PRs vs baseline</a:t>
            </a:r>
            <a:endParaRPr lang="en-US" sz="1350" dirty="0"/>
          </a:p>
          <a:p>
            <a:pPr marL="342900" indent="-342900">
              <a:spcAft>
                <a:spcPts val="900"/>
              </a:spcAft>
              <a:buSzPct val="100000"/>
              <a:buChar char="•"/>
            </a:pPr>
            <a:r>
              <a:rPr lang="en-US" sz="1350" dirty="0">
                <a:solidFill>
                  <a:srgbClr val="231F20"/>
                </a:solidFill>
                <a:latin typeface="Arial" pitchFamily="34" charset="0"/>
                <a:ea typeface="Arial" pitchFamily="34" charset="-122"/>
                <a:cs typeface="Arial" pitchFamily="34" charset="-120"/>
              </a:rPr>
              <a:t>Qualitative feedback from pilot team leads by end of Phase 2</a:t>
            </a:r>
            <a:endParaRPr lang="en-US" sz="1350" dirty="0"/>
          </a:p>
          <a:p>
            <a:pPr marL="342900" indent="-342900">
              <a:spcAft>
                <a:spcPts val="900"/>
              </a:spcAft>
              <a:buSzPct val="100000"/>
              <a:buChar char="•"/>
            </a:pPr>
            <a:r>
              <a:rPr lang="en-US" sz="1350" dirty="0">
                <a:solidFill>
                  <a:srgbClr val="231F20"/>
                </a:solidFill>
                <a:latin typeface="Arial" pitchFamily="34" charset="0"/>
                <a:ea typeface="Arial" pitchFamily="34" charset="-122"/>
                <a:cs typeface="Arial" pitchFamily="34" charset="-120"/>
              </a:rPr>
              <a:t>Converged approach agreed with Treasury Services and merged into the shared skills repo by end of Phase 1</a:t>
            </a:r>
            <a:endParaRPr lang="en-US" sz="1350" dirty="0"/>
          </a:p>
        </p:txBody>
      </p:sp>
      <p:sp>
        <p:nvSpPr>
          <p:cNvPr id="5" name="Shape 3"/>
          <p:cNvSpPr/>
          <p:nvPr/>
        </p:nvSpPr>
        <p:spPr>
          <a:xfrm>
            <a:off x="548640" y="5029200"/>
            <a:ext cx="5394960" cy="1051560"/>
          </a:xfrm>
          <a:prstGeom prst="roundRect">
            <a:avLst>
              <a:gd name="adj" fmla="val 6957"/>
            </a:avLst>
          </a:prstGeom>
          <a:solidFill>
            <a:srgbClr val="F5F5F5"/>
          </a:solidFill>
          <a:ln/>
        </p:spPr>
      </p:sp>
      <p:sp>
        <p:nvSpPr>
          <p:cNvPr id="6" name="Text 4"/>
          <p:cNvSpPr/>
          <p:nvPr/>
        </p:nvSpPr>
        <p:spPr>
          <a:xfrm>
            <a:off x="822960" y="5193792"/>
            <a:ext cx="4846320" cy="731520"/>
          </a:xfrm>
          <a:prstGeom prst="rect">
            <a:avLst/>
          </a:prstGeom>
          <a:noFill/>
          <a:ln/>
        </p:spPr>
        <p:txBody>
          <a:bodyPr wrap="square" lIns="0" tIns="0" rIns="0" bIns="0" rtlCol="0" anchor="ctr"/>
          <a:lstStyle/>
          <a:p>
            <a:pPr indent="0" marL="0">
              <a:lnSpc>
                <a:spcPct val="115000"/>
              </a:lnSpc>
              <a:buNone/>
            </a:pPr>
            <a:r>
              <a:rPr lang="en-US" sz="1350" b="1" dirty="0">
                <a:solidFill>
                  <a:srgbClr val="FF5F00"/>
                </a:solidFill>
                <a:latin typeface="Arial" pitchFamily="34" charset="0"/>
                <a:ea typeface="Arial" pitchFamily="34" charset="-122"/>
                <a:cs typeface="Arial" pitchFamily="34" charset="-120"/>
              </a:rPr>
              <a:t>September funding review: </a:t>
            </a:r>
            <a:pPr indent="0" marL="0">
              <a:lnSpc>
                <a:spcPct val="115000"/>
              </a:lnSpc>
              <a:buNone/>
            </a:pPr>
            <a:r>
              <a:rPr lang="en-US" sz="1350" dirty="0">
                <a:solidFill>
                  <a:srgbClr val="231F20"/>
                </a:solidFill>
                <a:latin typeface="Arial" pitchFamily="34" charset="0"/>
                <a:ea typeface="Arial" pitchFamily="34" charset="-122"/>
                <a:cs typeface="Arial" pitchFamily="34" charset="-120"/>
              </a:rPr>
              <a:t>the pre/post AIDLC dashboard is the headline evidence view.</a:t>
            </a:r>
            <a:endParaRPr lang="en-US" sz="1350" dirty="0"/>
          </a:p>
        </p:txBody>
      </p:sp>
      <p:sp>
        <p:nvSpPr>
          <p:cNvPr id="7" name="Text 5"/>
          <p:cNvSpPr/>
          <p:nvPr/>
        </p:nvSpPr>
        <p:spPr>
          <a:xfrm>
            <a:off x="6309360" y="1188720"/>
            <a:ext cx="5303520" cy="411480"/>
          </a:xfrm>
          <a:prstGeom prst="rect">
            <a:avLst/>
          </a:prstGeom>
          <a:noFill/>
          <a:ln/>
        </p:spPr>
        <p:txBody>
          <a:bodyPr wrap="square" lIns="0" tIns="0" rIns="0" bIns="0" rtlCol="0" anchor="ctr"/>
          <a:lstStyle/>
          <a:p>
            <a:pPr indent="0" marL="0">
              <a:buNone/>
            </a:pPr>
            <a:r>
              <a:rPr lang="en-US" sz="1700" b="1" dirty="0">
                <a:solidFill>
                  <a:srgbClr val="231F20"/>
                </a:solidFill>
                <a:latin typeface="Arial" pitchFamily="34" charset="0"/>
                <a:ea typeface="Arial" pitchFamily="34" charset="-122"/>
                <a:cs typeface="Arial" pitchFamily="34" charset="-120"/>
              </a:rPr>
              <a:t>Timeline</a:t>
            </a:r>
            <a:endParaRPr lang="en-US" sz="17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309360" y="1691640"/>
          <a:ext cx="5303520" cy="914400"/>
        </p:xfrm>
        <a:graphic>
          <a:graphicData uri="http://schemas.openxmlformats.org/drawingml/2006/table">
            <a:tbl>
              <a:tblPr/>
              <a:tblGrid>
                <a:gridCol w="1737360"/>
                <a:gridCol w="1783080"/>
                <a:gridCol w="1783080"/>
              </a:tblGrid>
              <a:tr h="777240">
                <a:tc>
                  <a:txBody>
                    <a:bodyPr/>
                    <a:lstStyle/>
                    <a:p>
                      <a:pPr indent="0" marL="0">
                        <a:buNone/>
                      </a:pPr>
                      <a:r>
                        <a:rPr lang="en-US" sz="1250" b="1" dirty="0">
                          <a:solidFill>
                            <a:srgbClr val="FFFFFF"/>
                          </a:solidFill>
                          <a:latin typeface="Arial" pitchFamily="34" charset="0"/>
                          <a:ea typeface="Arial" pitchFamily="34" charset="-122"/>
                          <a:cs typeface="Arial" pitchFamily="34" charset="-120"/>
                        </a:rPr>
                        <a:t>Phase</a:t>
                      </a:r>
                      <a:endParaRPr lang="en-US" sz="1250" dirty="0">
                        <a:latin typeface="Arial" charset="0"/>
                        <a:ea typeface="Arial" charset="0"/>
                        <a:cs typeface="Arial" charset="0"/>
                      </a:endParaRPr>
                    </a:p>
                  </a:txBody>
                  <a:tcPr marL="54864" marR="54864" marT="54864" marB="54864"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231F20"/>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Duration</a:t>
                      </a:r>
                      <a:endParaRPr lang="en-US" sz="1250" dirty="0">
                        <a:latin typeface="Arial" charset="0"/>
                        <a:ea typeface="Arial" charset="0"/>
                        <a:cs typeface="Arial" charset="0"/>
                      </a:endParaRPr>
                    </a:p>
                  </a:txBody>
                  <a:tcPr marL="54864" marR="54864" marT="54864" marB="54864"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231F20"/>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Owner</a:t>
                      </a:r>
                      <a:endParaRPr lang="en-US" sz="1250" dirty="0">
                        <a:latin typeface="Arial" charset="0"/>
                        <a:ea typeface="Arial" charset="0"/>
                        <a:cs typeface="Arial" charset="0"/>
                      </a:endParaRPr>
                    </a:p>
                  </a:txBody>
                  <a:tcPr marL="54864" marR="54864" marT="54864" marB="54864"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231F20"/>
                    </a:solidFill>
                  </a:tcPr>
                </a:tc>
              </a:tr>
              <a:tr h="777240">
                <a:tc>
                  <a:txBody>
                    <a:bodyPr/>
                    <a:lstStyle/>
                    <a:p>
                      <a:pPr indent="0" marL="0">
                        <a:buNone/>
                      </a:pPr>
                      <a:r>
                        <a:rPr lang="en-US" sz="1200" dirty="0">
                          <a:solidFill>
                            <a:srgbClr val="231F20"/>
                          </a:solidFill>
                          <a:latin typeface="Arial" pitchFamily="34" charset="0"/>
                          <a:ea typeface="Arial" pitchFamily="34" charset="-122"/>
                          <a:cs typeface="Arial" pitchFamily="34" charset="-120"/>
                        </a:rPr>
                        <a:t>1: Codify, Converge, Package</a:t>
                      </a:r>
                      <a:endParaRPr lang="en-US" sz="1200" dirty="0">
                        <a:latin typeface="Arial" charset="0"/>
                        <a:ea typeface="Arial" charset="0"/>
                        <a:cs typeface="Arial" charset="0"/>
                      </a:endParaRPr>
                    </a:p>
                  </a:txBody>
                  <a:tcPr marL="54864" marR="54864" marT="54864" marB="54864"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31F20"/>
                          </a:solidFill>
                          <a:latin typeface="Arial" pitchFamily="34" charset="0"/>
                          <a:ea typeface="Arial" pitchFamily="34" charset="-122"/>
                          <a:cs typeface="Arial" pitchFamily="34" charset="-120"/>
                        </a:rPr>
                        <a:t>In progress; convergence within 2-3 weeks</a:t>
                      </a:r>
                      <a:endParaRPr lang="en-US" sz="1200" dirty="0">
                        <a:latin typeface="Arial" charset="0"/>
                        <a:ea typeface="Arial" charset="0"/>
                        <a:cs typeface="Arial" charset="0"/>
                      </a:endParaRPr>
                    </a:p>
                  </a:txBody>
                  <a:tcPr marL="54864" marR="54864" marT="54864" marB="54864"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31F20"/>
                          </a:solidFill>
                          <a:latin typeface="Arial" pitchFamily="34" charset="0"/>
                          <a:ea typeface="Arial" pitchFamily="34" charset="-122"/>
                          <a:cs typeface="Arial" pitchFamily="34" charset="-120"/>
                        </a:rPr>
                        <a:t>Neha, with Treasury Services counterpart</a:t>
                      </a:r>
                      <a:endParaRPr lang="en-US" sz="1200" dirty="0">
                        <a:latin typeface="Arial" charset="0"/>
                        <a:ea typeface="Arial" charset="0"/>
                        <a:cs typeface="Arial" charset="0"/>
                      </a:endParaRPr>
                    </a:p>
                  </a:txBody>
                  <a:tcPr marL="54864" marR="54864" marT="54864" marB="54864"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777240">
                <a:tc>
                  <a:txBody>
                    <a:bodyPr/>
                    <a:lstStyle/>
                    <a:p>
                      <a:pPr indent="0" marL="0">
                        <a:buNone/>
                      </a:pPr>
                      <a:r>
                        <a:rPr lang="en-US" sz="1200" dirty="0">
                          <a:solidFill>
                            <a:srgbClr val="231F20"/>
                          </a:solidFill>
                          <a:latin typeface="Arial" pitchFamily="34" charset="0"/>
                          <a:ea typeface="Arial" pitchFamily="34" charset="-122"/>
                          <a:cs typeface="Arial" pitchFamily="34" charset="-120"/>
                        </a:rPr>
                        <a:t>2: Pilot Expansion</a:t>
                      </a:r>
                      <a:endParaRPr lang="en-US" sz="1200" dirty="0">
                        <a:latin typeface="Arial" charset="0"/>
                        <a:ea typeface="Arial" charset="0"/>
                        <a:cs typeface="Arial" charset="0"/>
                      </a:endParaRPr>
                    </a:p>
                  </a:txBody>
                  <a:tcPr marL="54864" marR="54864" marT="54864" marB="54864"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31F20"/>
                          </a:solidFill>
                          <a:latin typeface="Arial" pitchFamily="34" charset="0"/>
                          <a:ea typeface="Arial" pitchFamily="34" charset="-122"/>
                          <a:cs typeface="Arial" pitchFamily="34" charset="-120"/>
                        </a:rPr>
                        <a:t>4-6 weeks</a:t>
                      </a:r>
                      <a:endParaRPr lang="en-US" sz="1200" dirty="0">
                        <a:latin typeface="Arial" charset="0"/>
                        <a:ea typeface="Arial" charset="0"/>
                        <a:cs typeface="Arial" charset="0"/>
                      </a:endParaRPr>
                    </a:p>
                  </a:txBody>
                  <a:tcPr marL="54864" marR="54864" marT="54864" marB="54864"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31F20"/>
                          </a:solidFill>
                          <a:latin typeface="Arial" pitchFamily="34" charset="0"/>
                          <a:ea typeface="Arial" pitchFamily="34" charset="-122"/>
                          <a:cs typeface="Arial" pitchFamily="34" charset="-120"/>
                        </a:rPr>
                        <a:t>Neha + pilot team leads</a:t>
                      </a:r>
                      <a:endParaRPr lang="en-US" sz="1200" dirty="0">
                        <a:latin typeface="Arial" charset="0"/>
                        <a:ea typeface="Arial" charset="0"/>
                        <a:cs typeface="Arial" charset="0"/>
                      </a:endParaRPr>
                    </a:p>
                  </a:txBody>
                  <a:tcPr marL="54864" marR="54864" marT="54864" marB="54864"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777240">
                <a:tc>
                  <a:txBody>
                    <a:bodyPr/>
                    <a:lstStyle/>
                    <a:p>
                      <a:pPr indent="0" marL="0">
                        <a:buNone/>
                      </a:pPr>
                      <a:r>
                        <a:rPr lang="en-US" sz="1200" dirty="0">
                          <a:solidFill>
                            <a:srgbClr val="231F20"/>
                          </a:solidFill>
                          <a:latin typeface="Arial" pitchFamily="34" charset="0"/>
                          <a:ea typeface="Arial" pitchFamily="34" charset="-122"/>
                          <a:cs typeface="Arial" pitchFamily="34" charset="-120"/>
                        </a:rPr>
                        <a:t>3: Org-Wide Rollout</a:t>
                      </a:r>
                      <a:endParaRPr lang="en-US" sz="1200" dirty="0">
                        <a:latin typeface="Arial" charset="0"/>
                        <a:ea typeface="Arial" charset="0"/>
                        <a:cs typeface="Arial" charset="0"/>
                      </a:endParaRPr>
                    </a:p>
                  </a:txBody>
                  <a:tcPr marL="54864" marR="54864" marT="54864" marB="54864"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31F20"/>
                          </a:solidFill>
                          <a:latin typeface="Arial" pitchFamily="34" charset="0"/>
                          <a:ea typeface="Arial" pitchFamily="34" charset="-122"/>
                          <a:cs typeface="Arial" pitchFamily="34" charset="-120"/>
                        </a:rPr>
                        <a:t>4-8 weeks after Phase 2</a:t>
                      </a:r>
                      <a:endParaRPr lang="en-US" sz="1200" dirty="0">
                        <a:latin typeface="Arial" charset="0"/>
                        <a:ea typeface="Arial" charset="0"/>
                        <a:cs typeface="Arial" charset="0"/>
                      </a:endParaRPr>
                    </a:p>
                  </a:txBody>
                  <a:tcPr marL="54864" marR="54864" marT="54864" marB="54864"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31F20"/>
                          </a:solidFill>
                          <a:latin typeface="Arial" pitchFamily="34" charset="0"/>
                          <a:ea typeface="Arial" pitchFamily="34" charset="-122"/>
                          <a:cs typeface="Arial" pitchFamily="34" charset="-120"/>
                        </a:rPr>
                        <a:t>Neha + team POCs</a:t>
                      </a:r>
                      <a:endParaRPr lang="en-US" sz="1200" dirty="0">
                        <a:latin typeface="Arial" charset="0"/>
                        <a:ea typeface="Arial" charset="0"/>
                        <a:cs typeface="Arial" charset="0"/>
                      </a:endParaRPr>
                    </a:p>
                  </a:txBody>
                  <a:tcPr marL="54864" marR="54864" marT="54864" marB="54864"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777240">
                <a:tc>
                  <a:txBody>
                    <a:bodyPr/>
                    <a:lstStyle/>
                    <a:p>
                      <a:pPr indent="0" marL="0">
                        <a:buNone/>
                      </a:pPr>
                      <a:r>
                        <a:rPr lang="en-US" sz="1200" dirty="0">
                          <a:solidFill>
                            <a:srgbClr val="231F20"/>
                          </a:solidFill>
                          <a:latin typeface="Arial" pitchFamily="34" charset="0"/>
                          <a:ea typeface="Arial" pitchFamily="34" charset="-122"/>
                          <a:cs typeface="Arial" pitchFamily="34" charset="-120"/>
                        </a:rPr>
                        <a:t>4: Governance and Reporting</a:t>
                      </a:r>
                      <a:endParaRPr lang="en-US" sz="1200" dirty="0">
                        <a:latin typeface="Arial" charset="0"/>
                        <a:ea typeface="Arial" charset="0"/>
                        <a:cs typeface="Arial" charset="0"/>
                      </a:endParaRPr>
                    </a:p>
                  </a:txBody>
                  <a:tcPr marL="54864" marR="54864" marT="54864" marB="54864"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31F20"/>
                          </a:solidFill>
                          <a:latin typeface="Arial" pitchFamily="34" charset="0"/>
                          <a:ea typeface="Arial" pitchFamily="34" charset="-122"/>
                          <a:cs typeface="Arial" pitchFamily="34" charset="-120"/>
                        </a:rPr>
                        <a:t>Ongoing</a:t>
                      </a:r>
                      <a:endParaRPr lang="en-US" sz="1200" dirty="0">
                        <a:latin typeface="Arial" charset="0"/>
                        <a:ea typeface="Arial" charset="0"/>
                        <a:cs typeface="Arial" charset="0"/>
                      </a:endParaRPr>
                    </a:p>
                  </a:txBody>
                  <a:tcPr marL="54864" marR="54864" marT="54864" marB="54864"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31F20"/>
                          </a:solidFill>
                          <a:latin typeface="Arial" pitchFamily="34" charset="0"/>
                          <a:ea typeface="Arial" pitchFamily="34" charset="-122"/>
                          <a:cs typeface="Arial" pitchFamily="34" charset="-120"/>
                        </a:rPr>
                        <a:t>Neha, reporting to Shrikant/Sanjay/Sanjeev</a:t>
                      </a:r>
                      <a:endParaRPr lang="en-US" sz="1200" dirty="0">
                        <a:latin typeface="Arial" charset="0"/>
                        <a:ea typeface="Arial" charset="0"/>
                        <a:cs typeface="Arial" charset="0"/>
                      </a:endParaRPr>
                    </a:p>
                  </a:txBody>
                  <a:tcPr marL="54864" marR="54864" marT="54864" marB="54864"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bl>
          </a:graphicData>
        </a:graphic>
      </p:graphicFrame>
      <p:sp>
        <p:nvSpPr>
          <p:cNvPr id="9" name="Text 6"/>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6E6E6E"/>
                </a:solidFill>
                <a:latin typeface="Arial" pitchFamily="34" charset="0"/>
                <a:ea typeface="Arial" pitchFamily="34" charset="-122"/>
                <a:cs typeface="Arial" pitchFamily="34" charset="-120"/>
              </a:rPr>
              <a:t>AI Adoption Plan  |  Network Solutions  |  July 2026</a:t>
            </a:r>
            <a:endParaRPr lang="en-US" sz="900" dirty="0"/>
          </a:p>
        </p:txBody>
      </p:sp>
      <p:sp>
        <p:nvSpPr>
          <p:cNvPr id="10" name="Text 7"/>
          <p:cNvSpPr/>
          <p:nvPr/>
        </p:nvSpPr>
        <p:spPr>
          <a:xfrm>
            <a:off x="11430000" y="6473952"/>
            <a:ext cx="365760" cy="274320"/>
          </a:xfrm>
          <a:prstGeom prst="rect">
            <a:avLst/>
          </a:prstGeom>
          <a:noFill/>
          <a:ln/>
        </p:spPr>
        <p:txBody>
          <a:bodyPr wrap="square" lIns="0" tIns="0" rIns="0" bIns="0" rtlCol="0" anchor="ctr"/>
          <a:lstStyle/>
          <a:p>
            <a:pPr algn="r" indent="0" marL="0">
              <a:buNone/>
            </a:pPr>
            <a:r>
              <a:rPr lang="en-US" sz="900" dirty="0">
                <a:solidFill>
                  <a:srgbClr val="6E6E6E"/>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31F20"/>
        </a:solidFill>
      </p:bgPr>
    </p:bg>
    <p:spTree>
      <p:nvGrpSpPr>
        <p:cNvPr id="1" name=""/>
        <p:cNvGrpSpPr/>
        <p:nvPr/>
      </p:nvGrpSpPr>
      <p:grpSpPr>
        <a:xfrm>
          <a:off x="0" y="0"/>
          <a:ext cx="0" cy="0"/>
          <a:chOff x="0" y="0"/>
          <a:chExt cx="0" cy="0"/>
        </a:xfrm>
      </p:grpSpPr>
      <p:sp>
        <p:nvSpPr>
          <p:cNvPr id="2" name="Shape 0"/>
          <p:cNvSpPr/>
          <p:nvPr/>
        </p:nvSpPr>
        <p:spPr>
          <a:xfrm>
            <a:off x="-1645920" y="4206240"/>
            <a:ext cx="4572000" cy="4572000"/>
          </a:xfrm>
          <a:prstGeom prst="ellipse">
            <a:avLst/>
          </a:prstGeom>
          <a:solidFill>
            <a:srgbClr val="FF5F00">
              <a:alpha val="16000"/>
            </a:srgbClr>
          </a:solidFill>
          <a:ln/>
        </p:spPr>
      </p:sp>
      <p:sp>
        <p:nvSpPr>
          <p:cNvPr id="3" name="Text 1"/>
          <p:cNvSpPr/>
          <p:nvPr/>
        </p:nvSpPr>
        <p:spPr>
          <a:xfrm>
            <a:off x="822960" y="548640"/>
            <a:ext cx="10515600" cy="73152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The Ask</a:t>
            </a:r>
            <a:endParaRPr lang="en-US" sz="3600" dirty="0"/>
          </a:p>
        </p:txBody>
      </p:sp>
      <p:sp>
        <p:nvSpPr>
          <p:cNvPr id="4" name="Shape 2"/>
          <p:cNvSpPr/>
          <p:nvPr/>
        </p:nvSpPr>
        <p:spPr>
          <a:xfrm>
            <a:off x="868680" y="1737360"/>
            <a:ext cx="640080" cy="640080"/>
          </a:xfrm>
          <a:prstGeom prst="ellipse">
            <a:avLst/>
          </a:prstGeom>
          <a:solidFill>
            <a:srgbClr val="FF5F00"/>
          </a:solidFill>
          <a:ln/>
        </p:spPr>
      </p:sp>
      <p:sp>
        <p:nvSpPr>
          <p:cNvPr id="5" name="Text 3"/>
          <p:cNvSpPr/>
          <p:nvPr/>
        </p:nvSpPr>
        <p:spPr>
          <a:xfrm>
            <a:off x="868680" y="173736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1</a:t>
            </a:r>
            <a:endParaRPr lang="en-US" sz="2200" dirty="0"/>
          </a:p>
        </p:txBody>
      </p:sp>
      <p:sp>
        <p:nvSpPr>
          <p:cNvPr id="6" name="Text 4"/>
          <p:cNvSpPr/>
          <p:nvPr/>
        </p:nvSpPr>
        <p:spPr>
          <a:xfrm>
            <a:off x="1828800" y="1600200"/>
            <a:ext cx="9601200" cy="91440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Sponsor backing from Shrikant to approach 1-2 pilot teams for Phase 2</a:t>
            </a:r>
            <a:endParaRPr lang="en-US" sz="1700" dirty="0"/>
          </a:p>
        </p:txBody>
      </p:sp>
      <p:sp>
        <p:nvSpPr>
          <p:cNvPr id="7" name="Shape 5"/>
          <p:cNvSpPr/>
          <p:nvPr/>
        </p:nvSpPr>
        <p:spPr>
          <a:xfrm>
            <a:off x="868680" y="2971800"/>
            <a:ext cx="640080" cy="640080"/>
          </a:xfrm>
          <a:prstGeom prst="ellipse">
            <a:avLst/>
          </a:prstGeom>
          <a:solidFill>
            <a:srgbClr val="FF5F00"/>
          </a:solidFill>
          <a:ln/>
        </p:spPr>
      </p:sp>
      <p:sp>
        <p:nvSpPr>
          <p:cNvPr id="8" name="Text 6"/>
          <p:cNvSpPr/>
          <p:nvPr/>
        </p:nvSpPr>
        <p:spPr>
          <a:xfrm>
            <a:off x="868680" y="297180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2</a:t>
            </a:r>
            <a:endParaRPr lang="en-US" sz="2200" dirty="0"/>
          </a:p>
        </p:txBody>
      </p:sp>
      <p:sp>
        <p:nvSpPr>
          <p:cNvPr id="9" name="Text 7"/>
          <p:cNvSpPr/>
          <p:nvPr/>
        </p:nvSpPr>
        <p:spPr>
          <a:xfrm>
            <a:off x="1828800" y="2834640"/>
            <a:ext cx="9601200" cy="91440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Support for the convergence sync with Treasury Services and the follow-up presentation to the AI champions</a:t>
            </a:r>
            <a:endParaRPr lang="en-US" sz="1700" dirty="0"/>
          </a:p>
        </p:txBody>
      </p:sp>
      <p:sp>
        <p:nvSpPr>
          <p:cNvPr id="10" name="Shape 8"/>
          <p:cNvSpPr/>
          <p:nvPr/>
        </p:nvSpPr>
        <p:spPr>
          <a:xfrm>
            <a:off x="868680" y="4206240"/>
            <a:ext cx="640080" cy="640080"/>
          </a:xfrm>
          <a:prstGeom prst="ellipse">
            <a:avLst/>
          </a:prstGeom>
          <a:solidFill>
            <a:srgbClr val="FF5F00"/>
          </a:solidFill>
          <a:ln/>
        </p:spPr>
      </p:sp>
      <p:sp>
        <p:nvSpPr>
          <p:cNvPr id="11" name="Text 9"/>
          <p:cNvSpPr/>
          <p:nvPr/>
        </p:nvSpPr>
        <p:spPr>
          <a:xfrm>
            <a:off x="868680" y="420624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3</a:t>
            </a:r>
            <a:endParaRPr lang="en-US" sz="2200" dirty="0"/>
          </a:p>
        </p:txBody>
      </p:sp>
      <p:sp>
        <p:nvSpPr>
          <p:cNvPr id="12" name="Text 10"/>
          <p:cNvSpPr/>
          <p:nvPr/>
        </p:nvSpPr>
        <p:spPr>
          <a:xfrm>
            <a:off x="1828800" y="4069080"/>
            <a:ext cx="9601200" cy="91440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Sanjay/Sanjeev visibility into this plan ahead of the September funding review, so the usage tracking data supports continued investment</a:t>
            </a:r>
            <a:endParaRPr lang="en-US" sz="1700" dirty="0"/>
          </a:p>
        </p:txBody>
      </p:sp>
      <p:sp>
        <p:nvSpPr>
          <p:cNvPr id="13" name="Text 11"/>
          <p:cNvSpPr/>
          <p:nvPr/>
        </p:nvSpPr>
        <p:spPr>
          <a:xfrm>
            <a:off x="822960" y="5806440"/>
            <a:ext cx="10515600" cy="457200"/>
          </a:xfrm>
          <a:prstGeom prst="rect">
            <a:avLst/>
          </a:prstGeom>
          <a:noFill/>
          <a:ln/>
        </p:spPr>
        <p:txBody>
          <a:bodyPr wrap="square" lIns="0" tIns="0" rIns="0" bIns="0" rtlCol="0" anchor="ctr"/>
          <a:lstStyle/>
          <a:p>
            <a:pPr indent="0" marL="0">
              <a:buNone/>
            </a:pPr>
            <a:r>
              <a:rPr lang="en-US" sz="1500" i="1" dirty="0">
                <a:solidFill>
                  <a:srgbClr val="F79E1B"/>
                </a:solidFill>
                <a:latin typeface="Arial" pitchFamily="34" charset="0"/>
                <a:ea typeface="Arial" pitchFamily="34" charset="-122"/>
                <a:cs typeface="Arial" pitchFamily="34" charset="-120"/>
              </a:rPr>
              <a:t>Proven on COB. Converged with Treasury Services. Scaled across Network Solutions.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2026-07-28T05:59:47Z</dcterms:created>
  <dcterms:modified xsi:type="dcterms:W3CDTF">2026-07-28T05:59:47Z</dcterms:modified>
</cp:coreProperties>
</file>